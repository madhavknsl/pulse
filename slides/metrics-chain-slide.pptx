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41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034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227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20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Business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613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Metrics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06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Appendix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4150" y="660400"/>
            <a:ext cx="3511550" cy="4000500"/>
          </a:xfrm>
          <a:prstGeom prst="roundRect">
            <a:avLst>
              <a:gd name="adj" fmla="val 5424"/>
            </a:avLst>
          </a:prstGeom>
          <a:solidFill>
            <a:srgbClr val="DE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1950" y="787400"/>
            <a:ext cx="2222401" cy="228600"/>
          </a:xfrm>
          <a:prstGeom prst="roundRect">
            <a:avLst>
              <a:gd name="adj" fmla="val 50000"/>
            </a:avLst>
          </a:prstGeom>
          <a:solidFill>
            <a:srgbClr val="0D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50">
                <a:solidFill>
                  <a:srgbClr val="FFFFFF"/>
                </a:solidFill>
                <a:latin typeface="Arial"/>
              </a:rPr>
              <a:t>LEADING BEHAVIOUR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" y="104267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</a:pPr>
            <a:r>
              <a:rPr b="1" sz="2000">
                <a:solidFill>
                  <a:srgbClr val="0C0C0E"/>
                </a:solidFill>
                <a:latin typeface="Arial"/>
              </a:rPr>
              <a:t>Week-3 check-in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3050" y="1371600"/>
            <a:ext cx="3333750" cy="3200400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C4D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385316"/>
            <a:ext cx="5715000" cy="891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720"/>
              </a:lnSpc>
            </a:pPr>
            <a:r>
              <a:rPr b="1" sz="5600">
                <a:solidFill>
                  <a:srgbClr val="0D2A6B"/>
                </a:solidFill>
                <a:latin typeface="Arial"/>
              </a:rP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" y="2180082"/>
            <a:ext cx="5715000" cy="220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</a:pPr>
            <a:r>
              <a:rPr b="1" sz="1200">
                <a:solidFill>
                  <a:srgbClr val="5F6B8C"/>
                </a:solidFill>
                <a:latin typeface="Arial"/>
              </a:rPr>
              <a:t>target, week 3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267585" y="1492885"/>
            <a:ext cx="1167130" cy="1167130"/>
            <a:chOff x="2267585" y="1492885"/>
            <a:chExt cx="1167130" cy="1167130"/>
          </a:xfrm>
        </p:grpSpPr>
        <p:sp>
          <p:nvSpPr>
            <p:cNvPr id="15" name="Oval 14"/>
            <p:cNvSpPr/>
            <p:nvPr/>
          </p:nvSpPr>
          <p:spPr>
            <a:xfrm>
              <a:off x="2267585" y="1492885"/>
              <a:ext cx="81280" cy="81280"/>
            </a:xfrm>
            <a:prstGeom prst="ellipse">
              <a:avLst/>
            </a:prstGeom>
            <a:solidFill>
              <a:srgbClr val="0D2A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2388235" y="1492885"/>
              <a:ext cx="81280" cy="81280"/>
            </a:xfrm>
            <a:prstGeom prst="ellipse">
              <a:avLst/>
            </a:prstGeom>
            <a:solidFill>
              <a:srgbClr val="0D2A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508885" y="1492885"/>
              <a:ext cx="81280" cy="81280"/>
            </a:xfrm>
            <a:prstGeom prst="ellipse">
              <a:avLst/>
            </a:prstGeom>
            <a:solidFill>
              <a:srgbClr val="0D2A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629535" y="1492885"/>
              <a:ext cx="81280" cy="81280"/>
            </a:xfrm>
            <a:prstGeom prst="ellipse">
              <a:avLst/>
            </a:prstGeom>
            <a:solidFill>
              <a:srgbClr val="0D2A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2750185" y="1492885"/>
              <a:ext cx="81280" cy="81280"/>
            </a:xfrm>
            <a:prstGeom prst="ellipse">
              <a:avLst/>
            </a:prstGeom>
            <a:solidFill>
              <a:srgbClr val="0D2A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2870835" y="1492885"/>
              <a:ext cx="81280" cy="81280"/>
            </a:xfrm>
            <a:prstGeom prst="ellipse">
              <a:avLst/>
            </a:prstGeom>
            <a:solidFill>
              <a:srgbClr val="0D2A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2991485" y="1492885"/>
              <a:ext cx="81280" cy="81280"/>
            </a:xfrm>
            <a:prstGeom prst="ellipse">
              <a:avLst/>
            </a:prstGeom>
            <a:solidFill>
              <a:srgbClr val="0D2A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3112135" y="1492885"/>
              <a:ext cx="81280" cy="81280"/>
            </a:xfrm>
            <a:prstGeom prst="ellipse">
              <a:avLst/>
            </a:prstGeom>
            <a:solidFill>
              <a:srgbClr val="0D2A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3232785" y="1492885"/>
              <a:ext cx="81280" cy="81280"/>
            </a:xfrm>
            <a:prstGeom prst="ellipse">
              <a:avLst/>
            </a:prstGeom>
            <a:solidFill>
              <a:srgbClr val="0D2A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3353435" y="1492885"/>
              <a:ext cx="81280" cy="81280"/>
            </a:xfrm>
            <a:prstGeom prst="ellipse">
              <a:avLst/>
            </a:prstGeom>
            <a:solidFill>
              <a:srgbClr val="0D2A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226758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238823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250888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262953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275018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287083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299148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311213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323278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335343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226758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238823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250888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262953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275018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287083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299148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311213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323278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335343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226758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238823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250888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262953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275018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287083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299148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311213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323278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335343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226758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238823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250888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262953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275018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287083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299148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311213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323278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335343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226758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238823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250888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262953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275018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287083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299148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311213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323278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335343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226758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238823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250888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262953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275018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287083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299148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311213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323278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335343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226758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238823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250888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262953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275018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287083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299148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311213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323278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3"/>
            <p:cNvSpPr/>
            <p:nvPr/>
          </p:nvSpPr>
          <p:spPr>
            <a:xfrm>
              <a:off x="335343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Oval 94"/>
            <p:cNvSpPr/>
            <p:nvPr/>
          </p:nvSpPr>
          <p:spPr>
            <a:xfrm>
              <a:off x="226758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Oval 95"/>
            <p:cNvSpPr/>
            <p:nvPr/>
          </p:nvSpPr>
          <p:spPr>
            <a:xfrm>
              <a:off x="238823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Oval 96"/>
            <p:cNvSpPr/>
            <p:nvPr/>
          </p:nvSpPr>
          <p:spPr>
            <a:xfrm>
              <a:off x="250888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262953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8"/>
            <p:cNvSpPr/>
            <p:nvPr/>
          </p:nvSpPr>
          <p:spPr>
            <a:xfrm>
              <a:off x="275018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val 99"/>
            <p:cNvSpPr/>
            <p:nvPr/>
          </p:nvSpPr>
          <p:spPr>
            <a:xfrm>
              <a:off x="287083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299148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val 101"/>
            <p:cNvSpPr/>
            <p:nvPr/>
          </p:nvSpPr>
          <p:spPr>
            <a:xfrm>
              <a:off x="311213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323278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103"/>
            <p:cNvSpPr/>
            <p:nvPr/>
          </p:nvSpPr>
          <p:spPr>
            <a:xfrm>
              <a:off x="335343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104"/>
            <p:cNvSpPr/>
            <p:nvPr/>
          </p:nvSpPr>
          <p:spPr>
            <a:xfrm>
              <a:off x="226758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val 105"/>
            <p:cNvSpPr/>
            <p:nvPr/>
          </p:nvSpPr>
          <p:spPr>
            <a:xfrm>
              <a:off x="238823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250888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262953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275018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287083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val 110"/>
            <p:cNvSpPr/>
            <p:nvPr/>
          </p:nvSpPr>
          <p:spPr>
            <a:xfrm>
              <a:off x="299148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>
              <a:off x="311213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323278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335343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2247900" y="2699385"/>
            <a:ext cx="57150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</a:pPr>
            <a:r>
              <a:rPr b="1" sz="1000">
                <a:solidFill>
                  <a:srgbClr val="5F6B8C"/>
                </a:solidFill>
                <a:latin typeface="Arial"/>
              </a:rPr>
              <a:t>per 100 starters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38150" y="2942431"/>
            <a:ext cx="5715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</a:pPr>
            <a:r>
              <a:rPr b="0" sz="1250">
                <a:solidFill>
                  <a:srgbClr val="0C0C0E"/>
                </a:solidFill>
                <a:latin typeface="Arial"/>
              </a:rPr>
              <a:t>of </a:t>
            </a:r>
            <a:r>
              <a:rPr b="0" sz="1250">
                <a:solidFill>
                  <a:srgbClr val="0C0C0E"/>
                </a:solidFill>
                <a:latin typeface="Arial"/>
              </a:rPr>
              <a:t>starters </a:t>
            </a:r>
            <a:r>
              <a:rPr b="0" sz="1250">
                <a:solidFill>
                  <a:srgbClr val="0C0C0E"/>
                </a:solidFill>
                <a:latin typeface="Arial"/>
              </a:rPr>
              <a:t>check </a:t>
            </a:r>
            <a:r>
              <a:rPr b="0" sz="1250">
                <a:solidFill>
                  <a:srgbClr val="0C0C0E"/>
                </a:solidFill>
                <a:latin typeface="Arial"/>
              </a:rPr>
              <a:t>in </a:t>
            </a:r>
            <a:r>
              <a:rPr b="0" sz="1250">
                <a:solidFill>
                  <a:srgbClr val="0C0C0E"/>
                </a:solidFill>
                <a:latin typeface="Arial"/>
              </a:rPr>
              <a:t>on </a:t>
            </a:r>
            <a:r>
              <a:rPr b="1" sz="1250">
                <a:solidFill>
                  <a:srgbClr val="0C0C0E"/>
                </a:solidFill>
                <a:latin typeface="Arial"/>
              </a:rPr>
              <a:t>5 </a:t>
            </a:r>
            <a:r>
              <a:rPr b="1" sz="1250">
                <a:solidFill>
                  <a:srgbClr val="0C0C0E"/>
                </a:solidFill>
                <a:latin typeface="Arial"/>
              </a:rPr>
              <a:t>or </a:t>
            </a:r>
            <a:r>
              <a:rPr b="1" sz="1250">
                <a:solidFill>
                  <a:srgbClr val="0C0C0E"/>
                </a:solidFill>
                <a:latin typeface="Arial"/>
              </a:rPr>
              <a:t>more </a:t>
            </a:r>
            <a:r>
              <a:rPr b="1" sz="1250">
                <a:solidFill>
                  <a:srgbClr val="0C0C0E"/>
                </a:solidFill>
                <a:latin typeface="Arial"/>
              </a:rPr>
              <a:t>of </a:t>
            </a:r>
            <a:r>
              <a:rPr b="1" sz="1250">
                <a:solidFill>
                  <a:srgbClr val="0C0C0E"/>
                </a:solidFill>
                <a:latin typeface="Arial"/>
              </a:rPr>
              <a:t>the </a:t>
            </a:r>
            <a:r>
              <a:rPr b="1" sz="1250">
                <a:solidFill>
                  <a:srgbClr val="0C0C0E"/>
                </a:solidFill>
                <a:latin typeface="Arial"/>
              </a:rPr>
              <a:t>7</a:t>
            </a:r>
          </a:p>
          <a:p>
            <a:pPr>
              <a:lnSpc>
                <a:spcPts val="1600"/>
              </a:lnSpc>
            </a:pPr>
            <a:r>
              <a:rPr b="1" sz="1250">
                <a:solidFill>
                  <a:srgbClr val="0C0C0E"/>
                </a:solidFill>
                <a:latin typeface="Arial"/>
              </a:rPr>
              <a:t>days </a:t>
            </a:r>
            <a:r>
              <a:rPr b="0" sz="1250">
                <a:solidFill>
                  <a:srgbClr val="0C0C0E"/>
                </a:solidFill>
                <a:latin typeface="Arial"/>
              </a:rPr>
              <a:t>in </a:t>
            </a:r>
            <a:r>
              <a:rPr b="0" sz="1250">
                <a:solidFill>
                  <a:srgbClr val="0C0C0E"/>
                </a:solidFill>
                <a:latin typeface="Arial"/>
              </a:rPr>
              <a:t>days </a:t>
            </a:r>
            <a:r>
              <a:rPr b="0" sz="1250">
                <a:solidFill>
                  <a:srgbClr val="0C0C0E"/>
                </a:solidFill>
                <a:latin typeface="Arial"/>
              </a:rPr>
              <a:t>15–21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38150" y="3619500"/>
            <a:ext cx="3003550" cy="12700"/>
          </a:xfrm>
          <a:prstGeom prst="rect">
            <a:avLst/>
          </a:prstGeom>
          <a:solidFill>
            <a:srgbClr val="C4D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38150" y="3733673"/>
            <a:ext cx="35560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800">
                <a:solidFill>
                  <a:srgbClr val="0D2A6B"/>
                </a:solidFill>
                <a:latin typeface="Arial"/>
              </a:rPr>
              <a:t>C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38150" y="4013200"/>
            <a:ext cx="355600" cy="254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38150" y="4063873"/>
            <a:ext cx="35560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800">
                <a:solidFill>
                  <a:srgbClr val="0D2A6B"/>
                </a:solidFill>
                <a:latin typeface="Arial"/>
              </a:rPr>
              <a:t>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57250" y="3909378"/>
            <a:ext cx="571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</a:pPr>
            <a:r>
              <a:rPr b="1" sz="1500">
                <a:solidFill>
                  <a:srgbClr val="0C0C0E"/>
                </a:solidFill>
                <a:latin typeface="Arial"/>
              </a:rPr>
              <a:t>× 100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85900" y="3681444"/>
            <a:ext cx="21209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</a:pPr>
            <a:r>
              <a:rPr b="1" sz="1050">
                <a:solidFill>
                  <a:srgbClr val="0C0C0E"/>
                </a:solidFill>
                <a:latin typeface="Arial"/>
              </a:rPr>
              <a:t>C </a:t>
            </a:r>
            <a:r>
              <a:rPr b="0" sz="1050">
                <a:solidFill>
                  <a:srgbClr val="0C0C0E"/>
                </a:solidFill>
                <a:latin typeface="Arial"/>
              </a:rPr>
              <a:t>= </a:t>
            </a:r>
            <a:r>
              <a:rPr b="0" sz="1050">
                <a:solidFill>
                  <a:srgbClr val="0C0C0E"/>
                </a:solidFill>
                <a:latin typeface="Arial"/>
              </a:rPr>
              <a:t>starters </a:t>
            </a:r>
            <a:r>
              <a:rPr b="0" sz="1050">
                <a:solidFill>
                  <a:srgbClr val="0C0C0E"/>
                </a:solidFill>
                <a:latin typeface="Arial"/>
              </a:rPr>
              <a:t>who </a:t>
            </a:r>
            <a:r>
              <a:rPr b="0" sz="1050">
                <a:solidFill>
                  <a:srgbClr val="0C0C0E"/>
                </a:solidFill>
                <a:latin typeface="Arial"/>
              </a:rPr>
              <a:t>logged </a:t>
            </a:r>
            <a:r>
              <a:rPr b="0" sz="1050">
                <a:solidFill>
                  <a:srgbClr val="0C0C0E"/>
                </a:solidFill>
                <a:latin typeface="Arial"/>
              </a:rPr>
              <a:t>on </a:t>
            </a:r>
            <a:r>
              <a:rPr b="0" sz="1050">
                <a:solidFill>
                  <a:srgbClr val="0C0C0E"/>
                </a:solidFill>
                <a:latin typeface="Arial"/>
              </a:rPr>
              <a:t>5+ </a:t>
            </a:r>
            <a:r>
              <a:rPr b="0" sz="1050">
                <a:solidFill>
                  <a:srgbClr val="0C0C0E"/>
                </a:solidFill>
                <a:latin typeface="Arial"/>
              </a:rPr>
              <a:t>of</a:t>
            </a:r>
          </a:p>
          <a:p>
            <a:pPr>
              <a:lnSpc>
                <a:spcPts val="1300"/>
              </a:lnSpc>
            </a:pPr>
            <a:r>
              <a:rPr b="0" sz="1050">
                <a:solidFill>
                  <a:srgbClr val="0C0C0E"/>
                </a:solidFill>
                <a:latin typeface="Arial"/>
              </a:rPr>
              <a:t>7 </a:t>
            </a:r>
            <a:r>
              <a:rPr b="0" sz="1050">
                <a:solidFill>
                  <a:srgbClr val="0C0C0E"/>
                </a:solidFill>
                <a:latin typeface="Arial"/>
              </a:rPr>
              <a:t>days </a:t>
            </a:r>
            <a:r>
              <a:rPr b="0" sz="1050">
                <a:solidFill>
                  <a:srgbClr val="0C0C0E"/>
                </a:solidFill>
                <a:latin typeface="Arial"/>
              </a:rPr>
              <a:t>in </a:t>
            </a:r>
            <a:r>
              <a:rPr b="0" sz="1050">
                <a:solidFill>
                  <a:srgbClr val="0C0C0E"/>
                </a:solidFill>
                <a:latin typeface="Arial"/>
              </a:rPr>
              <a:t>days </a:t>
            </a:r>
            <a:r>
              <a:rPr b="0" sz="1050">
                <a:solidFill>
                  <a:srgbClr val="0C0C0E"/>
                </a:solidFill>
                <a:latin typeface="Arial"/>
              </a:rPr>
              <a:t>15–21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485900" y="4043394"/>
            <a:ext cx="21209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</a:pPr>
            <a:r>
              <a:rPr b="1" sz="1050">
                <a:solidFill>
                  <a:srgbClr val="0C0C0E"/>
                </a:solidFill>
                <a:latin typeface="Arial"/>
              </a:rPr>
              <a:t>T </a:t>
            </a:r>
            <a:r>
              <a:rPr b="0" sz="1050">
                <a:solidFill>
                  <a:srgbClr val="0C0C0E"/>
                </a:solidFill>
                <a:latin typeface="Arial"/>
              </a:rPr>
              <a:t>= </a:t>
            </a:r>
            <a:r>
              <a:rPr b="0" sz="1050">
                <a:solidFill>
                  <a:srgbClr val="0C0C0E"/>
                </a:solidFill>
                <a:latin typeface="Arial"/>
              </a:rPr>
              <a:t>users </a:t>
            </a:r>
            <a:r>
              <a:rPr b="0" sz="1050">
                <a:solidFill>
                  <a:srgbClr val="0C0C0E"/>
                </a:solidFill>
                <a:latin typeface="Arial"/>
              </a:rPr>
              <a:t>who </a:t>
            </a:r>
            <a:r>
              <a:rPr b="0" sz="1050">
                <a:solidFill>
                  <a:srgbClr val="0C0C0E"/>
                </a:solidFill>
                <a:latin typeface="Arial"/>
              </a:rPr>
              <a:t>completed </a:t>
            </a:r>
            <a:r>
              <a:rPr b="0" sz="1050">
                <a:solidFill>
                  <a:srgbClr val="0C0C0E"/>
                </a:solidFill>
                <a:latin typeface="Arial"/>
              </a:rPr>
              <a:t>the</a:t>
            </a:r>
          </a:p>
          <a:p>
            <a:pPr>
              <a:lnSpc>
                <a:spcPts val="1300"/>
              </a:lnSpc>
            </a:pPr>
            <a:r>
              <a:rPr b="0" sz="1050">
                <a:solidFill>
                  <a:srgbClr val="0C0C0E"/>
                </a:solidFill>
                <a:latin typeface="Arial"/>
              </a:rPr>
              <a:t>Day-1 </a:t>
            </a:r>
            <a:r>
              <a:rPr b="0" sz="1050">
                <a:solidFill>
                  <a:srgbClr val="0C0C0E"/>
                </a:solidFill>
                <a:latin typeface="Arial"/>
              </a:rPr>
              <a:t>check-in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330700" y="660400"/>
            <a:ext cx="3511550" cy="4000500"/>
          </a:xfrm>
          <a:prstGeom prst="roundRect">
            <a:avLst>
              <a:gd name="adj" fmla="val 5424"/>
            </a:avLst>
          </a:prstGeom>
          <a:solidFill>
            <a:srgbClr val="DE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4508500" y="787400"/>
            <a:ext cx="1111151" cy="228600"/>
          </a:xfrm>
          <a:prstGeom prst="roundRect">
            <a:avLst>
              <a:gd name="adj" fmla="val 50000"/>
            </a:avLst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50">
                <a:solidFill>
                  <a:srgbClr val="FFFFFF"/>
                </a:solidFill>
                <a:latin typeface="Arial"/>
              </a:rPr>
              <a:t>NORTH STAR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08500" y="104267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</a:pPr>
            <a:r>
              <a:rPr b="1" sz="2000">
                <a:solidFill>
                  <a:srgbClr val="0C0C0E"/>
                </a:solidFill>
                <a:latin typeface="Arial"/>
              </a:rPr>
              <a:t>Health Factor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419600" y="1371600"/>
            <a:ext cx="3333750" cy="3200400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C4D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584700" y="1385316"/>
            <a:ext cx="5715000" cy="891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720"/>
              </a:lnSpc>
            </a:pPr>
            <a:r>
              <a:rPr b="1" sz="5600">
                <a:solidFill>
                  <a:srgbClr val="1F57D6"/>
                </a:solidFill>
                <a:latin typeface="Arial"/>
              </a:rPr>
              <a:t>+10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835650" y="181737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</a:pPr>
            <a:r>
              <a:rPr b="1" sz="2000">
                <a:solidFill>
                  <a:srgbClr val="1F57D6"/>
                </a:solidFill>
                <a:latin typeface="Arial"/>
              </a:rPr>
              <a:t>pts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97400" y="2180082"/>
            <a:ext cx="5715000" cy="220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</a:pPr>
            <a:r>
              <a:rPr b="1" sz="1200">
                <a:solidFill>
                  <a:srgbClr val="5F6B8C"/>
                </a:solidFill>
                <a:latin typeface="Arial"/>
              </a:rPr>
              <a:t>target, within 90 days</a:t>
            </a:r>
          </a:p>
        </p:txBody>
      </p:sp>
      <p:grpSp>
        <p:nvGrpSpPr>
          <p:cNvPr id="131" name="Group 130"/>
          <p:cNvGrpSpPr/>
          <p:nvPr/>
        </p:nvGrpSpPr>
        <p:grpSpPr>
          <a:xfrm>
            <a:off x="6414135" y="1492885"/>
            <a:ext cx="1167130" cy="1167130"/>
            <a:chOff x="6414135" y="1492885"/>
            <a:chExt cx="1167130" cy="1167130"/>
          </a:xfrm>
        </p:grpSpPr>
        <p:sp>
          <p:nvSpPr>
            <p:cNvPr id="132" name="Oval 131"/>
            <p:cNvSpPr/>
            <p:nvPr/>
          </p:nvSpPr>
          <p:spPr>
            <a:xfrm>
              <a:off x="6414135" y="1492885"/>
              <a:ext cx="81280" cy="81280"/>
            </a:xfrm>
            <a:prstGeom prst="ellipse">
              <a:avLst/>
            </a:prstGeom>
            <a:solidFill>
              <a:srgbClr val="1F57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Oval 132"/>
            <p:cNvSpPr/>
            <p:nvPr/>
          </p:nvSpPr>
          <p:spPr>
            <a:xfrm>
              <a:off x="6534785" y="1492885"/>
              <a:ext cx="81280" cy="81280"/>
            </a:xfrm>
            <a:prstGeom prst="ellipse">
              <a:avLst/>
            </a:prstGeom>
            <a:solidFill>
              <a:srgbClr val="1F57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Oval 133"/>
            <p:cNvSpPr/>
            <p:nvPr/>
          </p:nvSpPr>
          <p:spPr>
            <a:xfrm>
              <a:off x="6655435" y="1492885"/>
              <a:ext cx="81280" cy="81280"/>
            </a:xfrm>
            <a:prstGeom prst="ellipse">
              <a:avLst/>
            </a:prstGeom>
            <a:solidFill>
              <a:srgbClr val="1F57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Oval 134"/>
            <p:cNvSpPr/>
            <p:nvPr/>
          </p:nvSpPr>
          <p:spPr>
            <a:xfrm>
              <a:off x="6776085" y="1492885"/>
              <a:ext cx="81280" cy="81280"/>
            </a:xfrm>
            <a:prstGeom prst="ellipse">
              <a:avLst/>
            </a:prstGeom>
            <a:solidFill>
              <a:srgbClr val="1F57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Oval 135"/>
            <p:cNvSpPr/>
            <p:nvPr/>
          </p:nvSpPr>
          <p:spPr>
            <a:xfrm>
              <a:off x="6896735" y="1492885"/>
              <a:ext cx="81280" cy="81280"/>
            </a:xfrm>
            <a:prstGeom prst="ellipse">
              <a:avLst/>
            </a:prstGeom>
            <a:solidFill>
              <a:srgbClr val="1F57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Oval 136"/>
            <p:cNvSpPr/>
            <p:nvPr/>
          </p:nvSpPr>
          <p:spPr>
            <a:xfrm>
              <a:off x="7017385" y="14928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Oval 137"/>
            <p:cNvSpPr/>
            <p:nvPr/>
          </p:nvSpPr>
          <p:spPr>
            <a:xfrm>
              <a:off x="7138035" y="14928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Oval 138"/>
            <p:cNvSpPr/>
            <p:nvPr/>
          </p:nvSpPr>
          <p:spPr>
            <a:xfrm>
              <a:off x="7258685" y="14928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Oval 139"/>
            <p:cNvSpPr/>
            <p:nvPr/>
          </p:nvSpPr>
          <p:spPr>
            <a:xfrm>
              <a:off x="7379335" y="14928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Oval 140"/>
            <p:cNvSpPr/>
            <p:nvPr/>
          </p:nvSpPr>
          <p:spPr>
            <a:xfrm>
              <a:off x="7499985" y="14928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Oval 141"/>
            <p:cNvSpPr/>
            <p:nvPr/>
          </p:nvSpPr>
          <p:spPr>
            <a:xfrm>
              <a:off x="641413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Oval 142"/>
            <p:cNvSpPr/>
            <p:nvPr/>
          </p:nvSpPr>
          <p:spPr>
            <a:xfrm>
              <a:off x="653478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Oval 143"/>
            <p:cNvSpPr/>
            <p:nvPr/>
          </p:nvSpPr>
          <p:spPr>
            <a:xfrm>
              <a:off x="665543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Oval 144"/>
            <p:cNvSpPr/>
            <p:nvPr/>
          </p:nvSpPr>
          <p:spPr>
            <a:xfrm>
              <a:off x="677608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Oval 145"/>
            <p:cNvSpPr/>
            <p:nvPr/>
          </p:nvSpPr>
          <p:spPr>
            <a:xfrm>
              <a:off x="689673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Oval 146"/>
            <p:cNvSpPr/>
            <p:nvPr/>
          </p:nvSpPr>
          <p:spPr>
            <a:xfrm>
              <a:off x="701738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Oval 147"/>
            <p:cNvSpPr/>
            <p:nvPr/>
          </p:nvSpPr>
          <p:spPr>
            <a:xfrm>
              <a:off x="713803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Oval 148"/>
            <p:cNvSpPr/>
            <p:nvPr/>
          </p:nvSpPr>
          <p:spPr>
            <a:xfrm>
              <a:off x="725868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Oval 149"/>
            <p:cNvSpPr/>
            <p:nvPr/>
          </p:nvSpPr>
          <p:spPr>
            <a:xfrm>
              <a:off x="737933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Oval 150"/>
            <p:cNvSpPr/>
            <p:nvPr/>
          </p:nvSpPr>
          <p:spPr>
            <a:xfrm>
              <a:off x="749998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Oval 151"/>
            <p:cNvSpPr/>
            <p:nvPr/>
          </p:nvSpPr>
          <p:spPr>
            <a:xfrm>
              <a:off x="641413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Oval 152"/>
            <p:cNvSpPr/>
            <p:nvPr/>
          </p:nvSpPr>
          <p:spPr>
            <a:xfrm>
              <a:off x="653478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Oval 153"/>
            <p:cNvSpPr/>
            <p:nvPr/>
          </p:nvSpPr>
          <p:spPr>
            <a:xfrm>
              <a:off x="665543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Oval 154"/>
            <p:cNvSpPr/>
            <p:nvPr/>
          </p:nvSpPr>
          <p:spPr>
            <a:xfrm>
              <a:off x="677608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Oval 155"/>
            <p:cNvSpPr/>
            <p:nvPr/>
          </p:nvSpPr>
          <p:spPr>
            <a:xfrm>
              <a:off x="689673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Oval 156"/>
            <p:cNvSpPr/>
            <p:nvPr/>
          </p:nvSpPr>
          <p:spPr>
            <a:xfrm>
              <a:off x="701738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Oval 157"/>
            <p:cNvSpPr/>
            <p:nvPr/>
          </p:nvSpPr>
          <p:spPr>
            <a:xfrm>
              <a:off x="713803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Oval 158"/>
            <p:cNvSpPr/>
            <p:nvPr/>
          </p:nvSpPr>
          <p:spPr>
            <a:xfrm>
              <a:off x="725868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Oval 159"/>
            <p:cNvSpPr/>
            <p:nvPr/>
          </p:nvSpPr>
          <p:spPr>
            <a:xfrm>
              <a:off x="737933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Oval 160"/>
            <p:cNvSpPr/>
            <p:nvPr/>
          </p:nvSpPr>
          <p:spPr>
            <a:xfrm>
              <a:off x="749998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Oval 161"/>
            <p:cNvSpPr/>
            <p:nvPr/>
          </p:nvSpPr>
          <p:spPr>
            <a:xfrm>
              <a:off x="641413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Oval 162"/>
            <p:cNvSpPr/>
            <p:nvPr/>
          </p:nvSpPr>
          <p:spPr>
            <a:xfrm>
              <a:off x="653478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Oval 163"/>
            <p:cNvSpPr/>
            <p:nvPr/>
          </p:nvSpPr>
          <p:spPr>
            <a:xfrm>
              <a:off x="665543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Oval 164"/>
            <p:cNvSpPr/>
            <p:nvPr/>
          </p:nvSpPr>
          <p:spPr>
            <a:xfrm>
              <a:off x="677608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Oval 165"/>
            <p:cNvSpPr/>
            <p:nvPr/>
          </p:nvSpPr>
          <p:spPr>
            <a:xfrm>
              <a:off x="689673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Oval 166"/>
            <p:cNvSpPr/>
            <p:nvPr/>
          </p:nvSpPr>
          <p:spPr>
            <a:xfrm>
              <a:off x="701738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Oval 167"/>
            <p:cNvSpPr/>
            <p:nvPr/>
          </p:nvSpPr>
          <p:spPr>
            <a:xfrm>
              <a:off x="713803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Oval 168"/>
            <p:cNvSpPr/>
            <p:nvPr/>
          </p:nvSpPr>
          <p:spPr>
            <a:xfrm>
              <a:off x="725868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Oval 169"/>
            <p:cNvSpPr/>
            <p:nvPr/>
          </p:nvSpPr>
          <p:spPr>
            <a:xfrm>
              <a:off x="737933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Oval 170"/>
            <p:cNvSpPr/>
            <p:nvPr/>
          </p:nvSpPr>
          <p:spPr>
            <a:xfrm>
              <a:off x="749998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Oval 171"/>
            <p:cNvSpPr/>
            <p:nvPr/>
          </p:nvSpPr>
          <p:spPr>
            <a:xfrm>
              <a:off x="641413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Oval 172"/>
            <p:cNvSpPr/>
            <p:nvPr/>
          </p:nvSpPr>
          <p:spPr>
            <a:xfrm>
              <a:off x="653478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Oval 173"/>
            <p:cNvSpPr/>
            <p:nvPr/>
          </p:nvSpPr>
          <p:spPr>
            <a:xfrm>
              <a:off x="665543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Oval 174"/>
            <p:cNvSpPr/>
            <p:nvPr/>
          </p:nvSpPr>
          <p:spPr>
            <a:xfrm>
              <a:off x="677608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Oval 175"/>
            <p:cNvSpPr/>
            <p:nvPr/>
          </p:nvSpPr>
          <p:spPr>
            <a:xfrm>
              <a:off x="689673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Oval 176"/>
            <p:cNvSpPr/>
            <p:nvPr/>
          </p:nvSpPr>
          <p:spPr>
            <a:xfrm>
              <a:off x="701738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Oval 177"/>
            <p:cNvSpPr/>
            <p:nvPr/>
          </p:nvSpPr>
          <p:spPr>
            <a:xfrm>
              <a:off x="713803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Oval 178"/>
            <p:cNvSpPr/>
            <p:nvPr/>
          </p:nvSpPr>
          <p:spPr>
            <a:xfrm>
              <a:off x="725868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Oval 179"/>
            <p:cNvSpPr/>
            <p:nvPr/>
          </p:nvSpPr>
          <p:spPr>
            <a:xfrm>
              <a:off x="737933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Oval 180"/>
            <p:cNvSpPr/>
            <p:nvPr/>
          </p:nvSpPr>
          <p:spPr>
            <a:xfrm>
              <a:off x="749998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Oval 181"/>
            <p:cNvSpPr/>
            <p:nvPr/>
          </p:nvSpPr>
          <p:spPr>
            <a:xfrm>
              <a:off x="641413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Oval 182"/>
            <p:cNvSpPr/>
            <p:nvPr/>
          </p:nvSpPr>
          <p:spPr>
            <a:xfrm>
              <a:off x="653478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Oval 183"/>
            <p:cNvSpPr/>
            <p:nvPr/>
          </p:nvSpPr>
          <p:spPr>
            <a:xfrm>
              <a:off x="665543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Oval 184"/>
            <p:cNvSpPr/>
            <p:nvPr/>
          </p:nvSpPr>
          <p:spPr>
            <a:xfrm>
              <a:off x="677608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Oval 185"/>
            <p:cNvSpPr/>
            <p:nvPr/>
          </p:nvSpPr>
          <p:spPr>
            <a:xfrm>
              <a:off x="689673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Oval 186"/>
            <p:cNvSpPr/>
            <p:nvPr/>
          </p:nvSpPr>
          <p:spPr>
            <a:xfrm>
              <a:off x="701738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Oval 187"/>
            <p:cNvSpPr/>
            <p:nvPr/>
          </p:nvSpPr>
          <p:spPr>
            <a:xfrm>
              <a:off x="713803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Oval 188"/>
            <p:cNvSpPr/>
            <p:nvPr/>
          </p:nvSpPr>
          <p:spPr>
            <a:xfrm>
              <a:off x="725868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Oval 189"/>
            <p:cNvSpPr/>
            <p:nvPr/>
          </p:nvSpPr>
          <p:spPr>
            <a:xfrm>
              <a:off x="737933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Oval 190"/>
            <p:cNvSpPr/>
            <p:nvPr/>
          </p:nvSpPr>
          <p:spPr>
            <a:xfrm>
              <a:off x="749998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Oval 191"/>
            <p:cNvSpPr/>
            <p:nvPr/>
          </p:nvSpPr>
          <p:spPr>
            <a:xfrm>
              <a:off x="641413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Oval 192"/>
            <p:cNvSpPr/>
            <p:nvPr/>
          </p:nvSpPr>
          <p:spPr>
            <a:xfrm>
              <a:off x="653478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Oval 193"/>
            <p:cNvSpPr/>
            <p:nvPr/>
          </p:nvSpPr>
          <p:spPr>
            <a:xfrm>
              <a:off x="665543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Oval 194"/>
            <p:cNvSpPr/>
            <p:nvPr/>
          </p:nvSpPr>
          <p:spPr>
            <a:xfrm>
              <a:off x="677608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Oval 195"/>
            <p:cNvSpPr/>
            <p:nvPr/>
          </p:nvSpPr>
          <p:spPr>
            <a:xfrm>
              <a:off x="689673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Oval 196"/>
            <p:cNvSpPr/>
            <p:nvPr/>
          </p:nvSpPr>
          <p:spPr>
            <a:xfrm>
              <a:off x="701738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Oval 197"/>
            <p:cNvSpPr/>
            <p:nvPr/>
          </p:nvSpPr>
          <p:spPr>
            <a:xfrm>
              <a:off x="713803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Oval 198"/>
            <p:cNvSpPr/>
            <p:nvPr/>
          </p:nvSpPr>
          <p:spPr>
            <a:xfrm>
              <a:off x="725868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Oval 199"/>
            <p:cNvSpPr/>
            <p:nvPr/>
          </p:nvSpPr>
          <p:spPr>
            <a:xfrm>
              <a:off x="737933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Oval 200"/>
            <p:cNvSpPr/>
            <p:nvPr/>
          </p:nvSpPr>
          <p:spPr>
            <a:xfrm>
              <a:off x="749998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Oval 201"/>
            <p:cNvSpPr/>
            <p:nvPr/>
          </p:nvSpPr>
          <p:spPr>
            <a:xfrm>
              <a:off x="641413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Oval 202"/>
            <p:cNvSpPr/>
            <p:nvPr/>
          </p:nvSpPr>
          <p:spPr>
            <a:xfrm>
              <a:off x="653478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val 203"/>
            <p:cNvSpPr/>
            <p:nvPr/>
          </p:nvSpPr>
          <p:spPr>
            <a:xfrm>
              <a:off x="665543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Oval 204"/>
            <p:cNvSpPr/>
            <p:nvPr/>
          </p:nvSpPr>
          <p:spPr>
            <a:xfrm>
              <a:off x="677608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val 205"/>
            <p:cNvSpPr/>
            <p:nvPr/>
          </p:nvSpPr>
          <p:spPr>
            <a:xfrm>
              <a:off x="689673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val 206"/>
            <p:cNvSpPr/>
            <p:nvPr/>
          </p:nvSpPr>
          <p:spPr>
            <a:xfrm>
              <a:off x="701738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val 207"/>
            <p:cNvSpPr/>
            <p:nvPr/>
          </p:nvSpPr>
          <p:spPr>
            <a:xfrm>
              <a:off x="713803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val 208"/>
            <p:cNvSpPr/>
            <p:nvPr/>
          </p:nvSpPr>
          <p:spPr>
            <a:xfrm>
              <a:off x="725868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Oval 209"/>
            <p:cNvSpPr/>
            <p:nvPr/>
          </p:nvSpPr>
          <p:spPr>
            <a:xfrm>
              <a:off x="737933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Oval 210"/>
            <p:cNvSpPr/>
            <p:nvPr/>
          </p:nvSpPr>
          <p:spPr>
            <a:xfrm>
              <a:off x="749998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Oval 211"/>
            <p:cNvSpPr/>
            <p:nvPr/>
          </p:nvSpPr>
          <p:spPr>
            <a:xfrm>
              <a:off x="641413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Oval 212"/>
            <p:cNvSpPr/>
            <p:nvPr/>
          </p:nvSpPr>
          <p:spPr>
            <a:xfrm>
              <a:off x="653478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Oval 213"/>
            <p:cNvSpPr/>
            <p:nvPr/>
          </p:nvSpPr>
          <p:spPr>
            <a:xfrm>
              <a:off x="665543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Oval 214"/>
            <p:cNvSpPr/>
            <p:nvPr/>
          </p:nvSpPr>
          <p:spPr>
            <a:xfrm>
              <a:off x="677608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Oval 215"/>
            <p:cNvSpPr/>
            <p:nvPr/>
          </p:nvSpPr>
          <p:spPr>
            <a:xfrm>
              <a:off x="689673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Oval 216"/>
            <p:cNvSpPr/>
            <p:nvPr/>
          </p:nvSpPr>
          <p:spPr>
            <a:xfrm>
              <a:off x="701738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Oval 217"/>
            <p:cNvSpPr/>
            <p:nvPr/>
          </p:nvSpPr>
          <p:spPr>
            <a:xfrm>
              <a:off x="713803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Oval 218"/>
            <p:cNvSpPr/>
            <p:nvPr/>
          </p:nvSpPr>
          <p:spPr>
            <a:xfrm>
              <a:off x="725868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Oval 219"/>
            <p:cNvSpPr/>
            <p:nvPr/>
          </p:nvSpPr>
          <p:spPr>
            <a:xfrm>
              <a:off x="737933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Oval 220"/>
            <p:cNvSpPr/>
            <p:nvPr/>
          </p:nvSpPr>
          <p:spPr>
            <a:xfrm>
              <a:off x="749998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Oval 221"/>
            <p:cNvSpPr/>
            <p:nvPr/>
          </p:nvSpPr>
          <p:spPr>
            <a:xfrm>
              <a:off x="641413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Oval 222"/>
            <p:cNvSpPr/>
            <p:nvPr/>
          </p:nvSpPr>
          <p:spPr>
            <a:xfrm>
              <a:off x="653478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Oval 223"/>
            <p:cNvSpPr/>
            <p:nvPr/>
          </p:nvSpPr>
          <p:spPr>
            <a:xfrm>
              <a:off x="665543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Oval 224"/>
            <p:cNvSpPr/>
            <p:nvPr/>
          </p:nvSpPr>
          <p:spPr>
            <a:xfrm>
              <a:off x="677608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Oval 225"/>
            <p:cNvSpPr/>
            <p:nvPr/>
          </p:nvSpPr>
          <p:spPr>
            <a:xfrm>
              <a:off x="689673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Oval 226"/>
            <p:cNvSpPr/>
            <p:nvPr/>
          </p:nvSpPr>
          <p:spPr>
            <a:xfrm>
              <a:off x="701738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Oval 227"/>
            <p:cNvSpPr/>
            <p:nvPr/>
          </p:nvSpPr>
          <p:spPr>
            <a:xfrm>
              <a:off x="713803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Oval 228"/>
            <p:cNvSpPr/>
            <p:nvPr/>
          </p:nvSpPr>
          <p:spPr>
            <a:xfrm>
              <a:off x="725868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Oval 229"/>
            <p:cNvSpPr/>
            <p:nvPr/>
          </p:nvSpPr>
          <p:spPr>
            <a:xfrm>
              <a:off x="737933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Oval 230"/>
            <p:cNvSpPr/>
            <p:nvPr/>
          </p:nvSpPr>
          <p:spPr>
            <a:xfrm>
              <a:off x="749998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2" name="TextBox 231"/>
          <p:cNvSpPr txBox="1"/>
          <p:nvPr/>
        </p:nvSpPr>
        <p:spPr>
          <a:xfrm>
            <a:off x="6394450" y="2699385"/>
            <a:ext cx="57150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</a:pPr>
            <a:r>
              <a:rPr b="1" sz="1000">
                <a:solidFill>
                  <a:srgbClr val="5F6B8C"/>
                </a:solidFill>
                <a:latin typeface="Arial"/>
              </a:rPr>
              <a:t>per 100 starters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4584700" y="2942431"/>
            <a:ext cx="5715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</a:pPr>
            <a:r>
              <a:rPr b="0" sz="1250">
                <a:solidFill>
                  <a:srgbClr val="0C0C0E"/>
                </a:solidFill>
                <a:latin typeface="Arial"/>
              </a:rPr>
              <a:t>points </a:t>
            </a:r>
            <a:r>
              <a:rPr b="0" sz="1250">
                <a:solidFill>
                  <a:srgbClr val="0C0C0E"/>
                </a:solidFill>
                <a:latin typeface="Arial"/>
              </a:rPr>
              <a:t>gained </a:t>
            </a:r>
            <a:r>
              <a:rPr b="0" sz="1250">
                <a:solidFill>
                  <a:srgbClr val="0C0C0E"/>
                </a:solidFill>
                <a:latin typeface="Arial"/>
              </a:rPr>
              <a:t>from </a:t>
            </a:r>
            <a:r>
              <a:rPr b="0" sz="1250">
                <a:solidFill>
                  <a:srgbClr val="0C0C0E"/>
                </a:solidFill>
                <a:latin typeface="Arial"/>
              </a:rPr>
              <a:t>Day </a:t>
            </a:r>
            <a:r>
              <a:rPr b="0" sz="1250">
                <a:solidFill>
                  <a:srgbClr val="0C0C0E"/>
                </a:solidFill>
                <a:latin typeface="Arial"/>
              </a:rPr>
              <a:t>1. </a:t>
            </a:r>
            <a:r>
              <a:rPr b="1" sz="1250">
                <a:solidFill>
                  <a:srgbClr val="0C0C0E"/>
                </a:solidFill>
                <a:latin typeface="Arial"/>
              </a:rPr>
              <a:t>About </a:t>
            </a:r>
            <a:r>
              <a:rPr b="1" sz="1250">
                <a:solidFill>
                  <a:srgbClr val="0C0C0E"/>
                </a:solidFill>
                <a:latin typeface="Arial"/>
              </a:rPr>
              <a:t>5% </a:t>
            </a:r>
            <a:r>
              <a:rPr b="1" sz="1250">
                <a:solidFill>
                  <a:srgbClr val="0C0C0E"/>
                </a:solidFill>
                <a:latin typeface="Arial"/>
              </a:rPr>
              <a:t>of</a:t>
            </a:r>
          </a:p>
          <a:p>
            <a:pPr>
              <a:lnSpc>
                <a:spcPts val="1600"/>
              </a:lnSpc>
            </a:pPr>
            <a:r>
              <a:rPr b="1" sz="1250">
                <a:solidFill>
                  <a:srgbClr val="0C0C0E"/>
                </a:solidFill>
                <a:latin typeface="Arial"/>
              </a:rPr>
              <a:t>starters </a:t>
            </a:r>
            <a:r>
              <a:rPr b="0" sz="1250">
                <a:solidFill>
                  <a:srgbClr val="0C0C0E"/>
                </a:solidFill>
                <a:latin typeface="Arial"/>
              </a:rPr>
              <a:t>expected </a:t>
            </a:r>
            <a:r>
              <a:rPr b="0" sz="1250">
                <a:solidFill>
                  <a:srgbClr val="0C0C0E"/>
                </a:solidFill>
                <a:latin typeface="Arial"/>
              </a:rPr>
              <a:t>to </a:t>
            </a:r>
            <a:r>
              <a:rPr b="0" sz="1250">
                <a:solidFill>
                  <a:srgbClr val="0C0C0E"/>
                </a:solidFill>
                <a:latin typeface="Arial"/>
              </a:rPr>
              <a:t>hit </a:t>
            </a:r>
            <a:r>
              <a:rPr b="0" sz="1250">
                <a:solidFill>
                  <a:srgbClr val="0C0C0E"/>
                </a:solidFill>
                <a:latin typeface="Arial"/>
              </a:rPr>
              <a:t>it, </a:t>
            </a:r>
            <a:r>
              <a:rPr b="0" sz="1250">
                <a:solidFill>
                  <a:srgbClr val="0C0C0E"/>
                </a:solidFill>
                <a:latin typeface="Arial"/>
              </a:rPr>
              <a:t>roughly </a:t>
            </a:r>
            <a:r>
              <a:rPr b="0" sz="1250">
                <a:solidFill>
                  <a:srgbClr val="0C0C0E"/>
                </a:solidFill>
                <a:latin typeface="Arial"/>
              </a:rPr>
              <a:t>half </a:t>
            </a:r>
            <a:r>
              <a:rPr b="0" sz="1250">
                <a:solidFill>
                  <a:srgbClr val="0C0C0E"/>
                </a:solidFill>
                <a:latin typeface="Arial"/>
              </a:rPr>
              <a:t>of</a:t>
            </a:r>
          </a:p>
          <a:p>
            <a:pPr>
              <a:lnSpc>
                <a:spcPts val="1600"/>
              </a:lnSpc>
            </a:pPr>
            <a:r>
              <a:rPr b="0" sz="1250">
                <a:solidFill>
                  <a:srgbClr val="0C0C0E"/>
                </a:solidFill>
                <a:latin typeface="Arial"/>
              </a:rPr>
              <a:t>those </a:t>
            </a:r>
            <a:r>
              <a:rPr b="0" sz="1250">
                <a:solidFill>
                  <a:srgbClr val="0C0C0E"/>
                </a:solidFill>
                <a:latin typeface="Arial"/>
              </a:rPr>
              <a:t>still </a:t>
            </a:r>
            <a:r>
              <a:rPr b="0" sz="1250">
                <a:solidFill>
                  <a:srgbClr val="0C0C0E"/>
                </a:solidFill>
                <a:latin typeface="Arial"/>
              </a:rPr>
              <a:t>active </a:t>
            </a:r>
            <a:r>
              <a:rPr b="0" sz="1250">
                <a:solidFill>
                  <a:srgbClr val="0C0C0E"/>
                </a:solidFill>
                <a:latin typeface="Arial"/>
              </a:rPr>
              <a:t>on </a:t>
            </a:r>
            <a:r>
              <a:rPr b="0" sz="1250">
                <a:solidFill>
                  <a:srgbClr val="0C0C0E"/>
                </a:solidFill>
                <a:latin typeface="Arial"/>
              </a:rPr>
              <a:t>Day </a:t>
            </a:r>
            <a:r>
              <a:rPr b="0" sz="1250">
                <a:solidFill>
                  <a:srgbClr val="0C0C0E"/>
                </a:solidFill>
                <a:latin typeface="Arial"/>
              </a:rPr>
              <a:t>90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584700" y="3619500"/>
            <a:ext cx="3003550" cy="12700"/>
          </a:xfrm>
          <a:prstGeom prst="rect">
            <a:avLst/>
          </a:prstGeom>
          <a:solidFill>
            <a:srgbClr val="C4D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4584700" y="3683984"/>
            <a:ext cx="5715000" cy="198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b="1" sz="1050">
                <a:solidFill>
                  <a:srgbClr val="0C0C0E"/>
                </a:solidFill>
                <a:latin typeface="Arial"/>
              </a:rPr>
              <a:t>Mind</a:t>
            </a:r>
            <a:r>
              <a:rPr b="0" sz="1050">
                <a:solidFill>
                  <a:srgbClr val="0C0C0E"/>
                </a:solidFill>
                <a:latin typeface="Arial"/>
              </a:rPr>
              <a:t> · 50% of the score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4584700" y="3860800"/>
            <a:ext cx="1802130" cy="203200"/>
          </a:xfrm>
          <a:prstGeom prst="rect">
            <a:avLst/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50">
                <a:solidFill>
                  <a:srgbClr val="FFFFFF"/>
                </a:solidFill>
                <a:latin typeface="Arial"/>
              </a:rPr>
              <a:t>PHQ-9 60%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6386830" y="3860800"/>
            <a:ext cx="1201420" cy="203200"/>
          </a:xfrm>
          <a:prstGeom prst="rect">
            <a:avLst/>
          </a:prstGeom>
          <a:solidFill>
            <a:srgbClr val="4A7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50">
                <a:solidFill>
                  <a:srgbClr val="FFFFFF"/>
                </a:solidFill>
                <a:latin typeface="Arial"/>
              </a:rPr>
              <a:t>GAD-7 40%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584700" y="4115784"/>
            <a:ext cx="5715000" cy="198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b="1" sz="1050">
                <a:solidFill>
                  <a:srgbClr val="0C0C0E"/>
                </a:solidFill>
                <a:latin typeface="Arial"/>
              </a:rPr>
              <a:t>Body</a:t>
            </a:r>
            <a:r>
              <a:rPr b="0" sz="1050">
                <a:solidFill>
                  <a:srgbClr val="0C0C0E"/>
                </a:solidFill>
                <a:latin typeface="Arial"/>
              </a:rPr>
              <a:t> · 50% of the score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4584700" y="4292600"/>
            <a:ext cx="1051242" cy="203200"/>
          </a:xfrm>
          <a:prstGeom prst="rect">
            <a:avLst/>
          </a:prstGeom>
          <a:solidFill>
            <a:srgbClr val="0D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50">
                <a:solidFill>
                  <a:srgbClr val="FFFFFF"/>
                </a:solidFill>
                <a:latin typeface="Arial"/>
              </a:rPr>
              <a:t>Sleep 35%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5635942" y="4292600"/>
            <a:ext cx="1051242" cy="203200"/>
          </a:xfrm>
          <a:prstGeom prst="rect">
            <a:avLst/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50">
                <a:solidFill>
                  <a:srgbClr val="FFFFFF"/>
                </a:solidFill>
                <a:latin typeface="Arial"/>
              </a:rPr>
              <a:t>Steps 35%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6687185" y="4292600"/>
            <a:ext cx="901065" cy="203200"/>
          </a:xfrm>
          <a:prstGeom prst="rect">
            <a:avLst/>
          </a:prstGeom>
          <a:solidFill>
            <a:srgbClr val="4A7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50">
                <a:solidFill>
                  <a:srgbClr val="FFFFFF"/>
                </a:solidFill>
                <a:latin typeface="Arial"/>
              </a:rPr>
              <a:t>Cycle 30%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8477250" y="660400"/>
            <a:ext cx="3511550" cy="4000500"/>
          </a:xfrm>
          <a:prstGeom prst="roundRect">
            <a:avLst>
              <a:gd name="adj" fmla="val 5424"/>
            </a:avLst>
          </a:prstGeom>
          <a:solidFill>
            <a:srgbClr val="DE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ounded Rectangle 242"/>
          <p:cNvSpPr/>
          <p:nvPr/>
        </p:nvSpPr>
        <p:spPr>
          <a:xfrm>
            <a:off x="8655050" y="787400"/>
            <a:ext cx="1473200" cy="228600"/>
          </a:xfrm>
          <a:prstGeom prst="roundRect">
            <a:avLst>
              <a:gd name="adj" fmla="val 50000"/>
            </a:avLst>
          </a:prstGeom>
          <a:solidFill>
            <a:srgbClr val="049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50">
                <a:solidFill>
                  <a:srgbClr val="FFFFFF"/>
                </a:solidFill>
                <a:latin typeface="Arial"/>
              </a:rPr>
              <a:t>BUSINESS METRIC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8655050" y="104267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</a:pPr>
            <a:r>
              <a:rPr b="1" sz="2000">
                <a:solidFill>
                  <a:srgbClr val="0C0C0E"/>
                </a:solidFill>
                <a:latin typeface="Arial"/>
              </a:rPr>
              <a:t>90-day paid retention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8566150" y="1371600"/>
            <a:ext cx="3333750" cy="3200400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C4D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8731250" y="1385316"/>
            <a:ext cx="5715000" cy="891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720"/>
              </a:lnSpc>
            </a:pPr>
            <a:r>
              <a:rPr b="1" sz="5600">
                <a:solidFill>
                  <a:srgbClr val="0492B0"/>
                </a:solidFill>
                <a:latin typeface="Arial"/>
              </a:rPr>
              <a:t>7%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743950" y="2180082"/>
            <a:ext cx="5715000" cy="220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</a:pPr>
            <a:r>
              <a:rPr b="1" sz="1200">
                <a:solidFill>
                  <a:srgbClr val="5F6B8C"/>
                </a:solidFill>
                <a:latin typeface="Arial"/>
              </a:rPr>
              <a:t>target, Day 90</a:t>
            </a:r>
          </a:p>
        </p:txBody>
      </p:sp>
      <p:grpSp>
        <p:nvGrpSpPr>
          <p:cNvPr id="248" name="Group 247"/>
          <p:cNvGrpSpPr/>
          <p:nvPr/>
        </p:nvGrpSpPr>
        <p:grpSpPr>
          <a:xfrm>
            <a:off x="10560685" y="1492885"/>
            <a:ext cx="1167130" cy="1167130"/>
            <a:chOff x="10560685" y="1492885"/>
            <a:chExt cx="1167130" cy="1167130"/>
          </a:xfrm>
        </p:grpSpPr>
        <p:sp>
          <p:nvSpPr>
            <p:cNvPr id="249" name="Oval 248"/>
            <p:cNvSpPr/>
            <p:nvPr/>
          </p:nvSpPr>
          <p:spPr>
            <a:xfrm>
              <a:off x="10560685" y="1492885"/>
              <a:ext cx="81280" cy="81280"/>
            </a:xfrm>
            <a:prstGeom prst="ellipse">
              <a:avLst/>
            </a:prstGeom>
            <a:solidFill>
              <a:srgbClr val="0492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Oval 249"/>
            <p:cNvSpPr/>
            <p:nvPr/>
          </p:nvSpPr>
          <p:spPr>
            <a:xfrm>
              <a:off x="10681335" y="1492885"/>
              <a:ext cx="81280" cy="81280"/>
            </a:xfrm>
            <a:prstGeom prst="ellipse">
              <a:avLst/>
            </a:prstGeom>
            <a:solidFill>
              <a:srgbClr val="0492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Oval 250"/>
            <p:cNvSpPr/>
            <p:nvPr/>
          </p:nvSpPr>
          <p:spPr>
            <a:xfrm>
              <a:off x="10801985" y="1492885"/>
              <a:ext cx="81280" cy="81280"/>
            </a:xfrm>
            <a:prstGeom prst="ellipse">
              <a:avLst/>
            </a:prstGeom>
            <a:solidFill>
              <a:srgbClr val="0492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Oval 251"/>
            <p:cNvSpPr/>
            <p:nvPr/>
          </p:nvSpPr>
          <p:spPr>
            <a:xfrm>
              <a:off x="10922635" y="1492885"/>
              <a:ext cx="81280" cy="81280"/>
            </a:xfrm>
            <a:prstGeom prst="ellipse">
              <a:avLst/>
            </a:prstGeom>
            <a:solidFill>
              <a:srgbClr val="0492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Oval 252"/>
            <p:cNvSpPr/>
            <p:nvPr/>
          </p:nvSpPr>
          <p:spPr>
            <a:xfrm>
              <a:off x="11043285" y="1492885"/>
              <a:ext cx="81280" cy="81280"/>
            </a:xfrm>
            <a:prstGeom prst="ellipse">
              <a:avLst/>
            </a:prstGeom>
            <a:solidFill>
              <a:srgbClr val="0492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Oval 253"/>
            <p:cNvSpPr/>
            <p:nvPr/>
          </p:nvSpPr>
          <p:spPr>
            <a:xfrm>
              <a:off x="11163935" y="1492885"/>
              <a:ext cx="81280" cy="81280"/>
            </a:xfrm>
            <a:prstGeom prst="ellipse">
              <a:avLst/>
            </a:prstGeom>
            <a:solidFill>
              <a:srgbClr val="0492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Oval 254"/>
            <p:cNvSpPr/>
            <p:nvPr/>
          </p:nvSpPr>
          <p:spPr>
            <a:xfrm>
              <a:off x="11284585" y="1492885"/>
              <a:ext cx="81280" cy="81280"/>
            </a:xfrm>
            <a:prstGeom prst="ellipse">
              <a:avLst/>
            </a:prstGeom>
            <a:solidFill>
              <a:srgbClr val="0492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Oval 255"/>
            <p:cNvSpPr/>
            <p:nvPr/>
          </p:nvSpPr>
          <p:spPr>
            <a:xfrm>
              <a:off x="11405235" y="14928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Oval 256"/>
            <p:cNvSpPr/>
            <p:nvPr/>
          </p:nvSpPr>
          <p:spPr>
            <a:xfrm>
              <a:off x="11525885" y="14928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Oval 257"/>
            <p:cNvSpPr/>
            <p:nvPr/>
          </p:nvSpPr>
          <p:spPr>
            <a:xfrm>
              <a:off x="11646535" y="14928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Oval 258"/>
            <p:cNvSpPr/>
            <p:nvPr/>
          </p:nvSpPr>
          <p:spPr>
            <a:xfrm>
              <a:off x="1056068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Oval 259"/>
            <p:cNvSpPr/>
            <p:nvPr/>
          </p:nvSpPr>
          <p:spPr>
            <a:xfrm>
              <a:off x="1068133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Oval 260"/>
            <p:cNvSpPr/>
            <p:nvPr/>
          </p:nvSpPr>
          <p:spPr>
            <a:xfrm>
              <a:off x="1080198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Oval 261"/>
            <p:cNvSpPr/>
            <p:nvPr/>
          </p:nvSpPr>
          <p:spPr>
            <a:xfrm>
              <a:off x="1092263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Oval 262"/>
            <p:cNvSpPr/>
            <p:nvPr/>
          </p:nvSpPr>
          <p:spPr>
            <a:xfrm>
              <a:off x="1104328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Oval 263"/>
            <p:cNvSpPr/>
            <p:nvPr/>
          </p:nvSpPr>
          <p:spPr>
            <a:xfrm>
              <a:off x="1116393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Oval 264"/>
            <p:cNvSpPr/>
            <p:nvPr/>
          </p:nvSpPr>
          <p:spPr>
            <a:xfrm>
              <a:off x="1128458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Oval 265"/>
            <p:cNvSpPr/>
            <p:nvPr/>
          </p:nvSpPr>
          <p:spPr>
            <a:xfrm>
              <a:off x="1140523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Oval 266"/>
            <p:cNvSpPr/>
            <p:nvPr/>
          </p:nvSpPr>
          <p:spPr>
            <a:xfrm>
              <a:off x="1152588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Oval 267"/>
            <p:cNvSpPr/>
            <p:nvPr/>
          </p:nvSpPr>
          <p:spPr>
            <a:xfrm>
              <a:off x="11646535" y="16135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Oval 268"/>
            <p:cNvSpPr/>
            <p:nvPr/>
          </p:nvSpPr>
          <p:spPr>
            <a:xfrm>
              <a:off x="1056068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Oval 269"/>
            <p:cNvSpPr/>
            <p:nvPr/>
          </p:nvSpPr>
          <p:spPr>
            <a:xfrm>
              <a:off x="1068133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Oval 270"/>
            <p:cNvSpPr/>
            <p:nvPr/>
          </p:nvSpPr>
          <p:spPr>
            <a:xfrm>
              <a:off x="1080198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Oval 271"/>
            <p:cNvSpPr/>
            <p:nvPr/>
          </p:nvSpPr>
          <p:spPr>
            <a:xfrm>
              <a:off x="1092263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Oval 272"/>
            <p:cNvSpPr/>
            <p:nvPr/>
          </p:nvSpPr>
          <p:spPr>
            <a:xfrm>
              <a:off x="1104328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Oval 273"/>
            <p:cNvSpPr/>
            <p:nvPr/>
          </p:nvSpPr>
          <p:spPr>
            <a:xfrm>
              <a:off x="1116393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Oval 274"/>
            <p:cNvSpPr/>
            <p:nvPr/>
          </p:nvSpPr>
          <p:spPr>
            <a:xfrm>
              <a:off x="1128458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Oval 275"/>
            <p:cNvSpPr/>
            <p:nvPr/>
          </p:nvSpPr>
          <p:spPr>
            <a:xfrm>
              <a:off x="1140523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Oval 276"/>
            <p:cNvSpPr/>
            <p:nvPr/>
          </p:nvSpPr>
          <p:spPr>
            <a:xfrm>
              <a:off x="1152588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Oval 277"/>
            <p:cNvSpPr/>
            <p:nvPr/>
          </p:nvSpPr>
          <p:spPr>
            <a:xfrm>
              <a:off x="11646535" y="17341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Oval 278"/>
            <p:cNvSpPr/>
            <p:nvPr/>
          </p:nvSpPr>
          <p:spPr>
            <a:xfrm>
              <a:off x="1056068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Oval 279"/>
            <p:cNvSpPr/>
            <p:nvPr/>
          </p:nvSpPr>
          <p:spPr>
            <a:xfrm>
              <a:off x="1068133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Oval 280"/>
            <p:cNvSpPr/>
            <p:nvPr/>
          </p:nvSpPr>
          <p:spPr>
            <a:xfrm>
              <a:off x="1080198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Oval 281"/>
            <p:cNvSpPr/>
            <p:nvPr/>
          </p:nvSpPr>
          <p:spPr>
            <a:xfrm>
              <a:off x="1092263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Oval 282"/>
            <p:cNvSpPr/>
            <p:nvPr/>
          </p:nvSpPr>
          <p:spPr>
            <a:xfrm>
              <a:off x="1104328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Oval 283"/>
            <p:cNvSpPr/>
            <p:nvPr/>
          </p:nvSpPr>
          <p:spPr>
            <a:xfrm>
              <a:off x="1116393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Oval 284"/>
            <p:cNvSpPr/>
            <p:nvPr/>
          </p:nvSpPr>
          <p:spPr>
            <a:xfrm>
              <a:off x="1128458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Oval 285"/>
            <p:cNvSpPr/>
            <p:nvPr/>
          </p:nvSpPr>
          <p:spPr>
            <a:xfrm>
              <a:off x="1140523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Oval 286"/>
            <p:cNvSpPr/>
            <p:nvPr/>
          </p:nvSpPr>
          <p:spPr>
            <a:xfrm>
              <a:off x="1152588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Oval 287"/>
            <p:cNvSpPr/>
            <p:nvPr/>
          </p:nvSpPr>
          <p:spPr>
            <a:xfrm>
              <a:off x="11646535" y="18548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Oval 288"/>
            <p:cNvSpPr/>
            <p:nvPr/>
          </p:nvSpPr>
          <p:spPr>
            <a:xfrm>
              <a:off x="1056068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Oval 289"/>
            <p:cNvSpPr/>
            <p:nvPr/>
          </p:nvSpPr>
          <p:spPr>
            <a:xfrm>
              <a:off x="1068133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Oval 290"/>
            <p:cNvSpPr/>
            <p:nvPr/>
          </p:nvSpPr>
          <p:spPr>
            <a:xfrm>
              <a:off x="1080198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Oval 291"/>
            <p:cNvSpPr/>
            <p:nvPr/>
          </p:nvSpPr>
          <p:spPr>
            <a:xfrm>
              <a:off x="1092263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Oval 292"/>
            <p:cNvSpPr/>
            <p:nvPr/>
          </p:nvSpPr>
          <p:spPr>
            <a:xfrm>
              <a:off x="1104328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Oval 293"/>
            <p:cNvSpPr/>
            <p:nvPr/>
          </p:nvSpPr>
          <p:spPr>
            <a:xfrm>
              <a:off x="1116393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Oval 294"/>
            <p:cNvSpPr/>
            <p:nvPr/>
          </p:nvSpPr>
          <p:spPr>
            <a:xfrm>
              <a:off x="1128458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Oval 295"/>
            <p:cNvSpPr/>
            <p:nvPr/>
          </p:nvSpPr>
          <p:spPr>
            <a:xfrm>
              <a:off x="1140523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Oval 296"/>
            <p:cNvSpPr/>
            <p:nvPr/>
          </p:nvSpPr>
          <p:spPr>
            <a:xfrm>
              <a:off x="1152588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Oval 297"/>
            <p:cNvSpPr/>
            <p:nvPr/>
          </p:nvSpPr>
          <p:spPr>
            <a:xfrm>
              <a:off x="11646535" y="19754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Oval 298"/>
            <p:cNvSpPr/>
            <p:nvPr/>
          </p:nvSpPr>
          <p:spPr>
            <a:xfrm>
              <a:off x="1056068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Oval 299"/>
            <p:cNvSpPr/>
            <p:nvPr/>
          </p:nvSpPr>
          <p:spPr>
            <a:xfrm>
              <a:off x="1068133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Oval 300"/>
            <p:cNvSpPr/>
            <p:nvPr/>
          </p:nvSpPr>
          <p:spPr>
            <a:xfrm>
              <a:off x="1080198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Oval 301"/>
            <p:cNvSpPr/>
            <p:nvPr/>
          </p:nvSpPr>
          <p:spPr>
            <a:xfrm>
              <a:off x="1092263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Oval 302"/>
            <p:cNvSpPr/>
            <p:nvPr/>
          </p:nvSpPr>
          <p:spPr>
            <a:xfrm>
              <a:off x="1104328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Oval 303"/>
            <p:cNvSpPr/>
            <p:nvPr/>
          </p:nvSpPr>
          <p:spPr>
            <a:xfrm>
              <a:off x="1116393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Oval 304"/>
            <p:cNvSpPr/>
            <p:nvPr/>
          </p:nvSpPr>
          <p:spPr>
            <a:xfrm>
              <a:off x="1128458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Oval 305"/>
            <p:cNvSpPr/>
            <p:nvPr/>
          </p:nvSpPr>
          <p:spPr>
            <a:xfrm>
              <a:off x="1140523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Oval 306"/>
            <p:cNvSpPr/>
            <p:nvPr/>
          </p:nvSpPr>
          <p:spPr>
            <a:xfrm>
              <a:off x="1152588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Oval 307"/>
            <p:cNvSpPr/>
            <p:nvPr/>
          </p:nvSpPr>
          <p:spPr>
            <a:xfrm>
              <a:off x="11646535" y="20961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Oval 308"/>
            <p:cNvSpPr/>
            <p:nvPr/>
          </p:nvSpPr>
          <p:spPr>
            <a:xfrm>
              <a:off x="1056068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Oval 309"/>
            <p:cNvSpPr/>
            <p:nvPr/>
          </p:nvSpPr>
          <p:spPr>
            <a:xfrm>
              <a:off x="1068133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Oval 310"/>
            <p:cNvSpPr/>
            <p:nvPr/>
          </p:nvSpPr>
          <p:spPr>
            <a:xfrm>
              <a:off x="1080198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Oval 311"/>
            <p:cNvSpPr/>
            <p:nvPr/>
          </p:nvSpPr>
          <p:spPr>
            <a:xfrm>
              <a:off x="1092263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Oval 312"/>
            <p:cNvSpPr/>
            <p:nvPr/>
          </p:nvSpPr>
          <p:spPr>
            <a:xfrm>
              <a:off x="1104328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Oval 313"/>
            <p:cNvSpPr/>
            <p:nvPr/>
          </p:nvSpPr>
          <p:spPr>
            <a:xfrm>
              <a:off x="1116393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Oval 314"/>
            <p:cNvSpPr/>
            <p:nvPr/>
          </p:nvSpPr>
          <p:spPr>
            <a:xfrm>
              <a:off x="1128458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Oval 315"/>
            <p:cNvSpPr/>
            <p:nvPr/>
          </p:nvSpPr>
          <p:spPr>
            <a:xfrm>
              <a:off x="1140523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Oval 316"/>
            <p:cNvSpPr/>
            <p:nvPr/>
          </p:nvSpPr>
          <p:spPr>
            <a:xfrm>
              <a:off x="1152588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Oval 317"/>
            <p:cNvSpPr/>
            <p:nvPr/>
          </p:nvSpPr>
          <p:spPr>
            <a:xfrm>
              <a:off x="11646535" y="22167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Oval 318"/>
            <p:cNvSpPr/>
            <p:nvPr/>
          </p:nvSpPr>
          <p:spPr>
            <a:xfrm>
              <a:off x="1056068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Oval 319"/>
            <p:cNvSpPr/>
            <p:nvPr/>
          </p:nvSpPr>
          <p:spPr>
            <a:xfrm>
              <a:off x="1068133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Oval 320"/>
            <p:cNvSpPr/>
            <p:nvPr/>
          </p:nvSpPr>
          <p:spPr>
            <a:xfrm>
              <a:off x="1080198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2" name="Oval 321"/>
            <p:cNvSpPr/>
            <p:nvPr/>
          </p:nvSpPr>
          <p:spPr>
            <a:xfrm>
              <a:off x="1092263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Oval 322"/>
            <p:cNvSpPr/>
            <p:nvPr/>
          </p:nvSpPr>
          <p:spPr>
            <a:xfrm>
              <a:off x="1104328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Oval 323"/>
            <p:cNvSpPr/>
            <p:nvPr/>
          </p:nvSpPr>
          <p:spPr>
            <a:xfrm>
              <a:off x="1116393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Oval 324"/>
            <p:cNvSpPr/>
            <p:nvPr/>
          </p:nvSpPr>
          <p:spPr>
            <a:xfrm>
              <a:off x="1128458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Oval 325"/>
            <p:cNvSpPr/>
            <p:nvPr/>
          </p:nvSpPr>
          <p:spPr>
            <a:xfrm>
              <a:off x="1140523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Oval 326"/>
            <p:cNvSpPr/>
            <p:nvPr/>
          </p:nvSpPr>
          <p:spPr>
            <a:xfrm>
              <a:off x="1152588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Oval 327"/>
            <p:cNvSpPr/>
            <p:nvPr/>
          </p:nvSpPr>
          <p:spPr>
            <a:xfrm>
              <a:off x="11646535" y="23374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Oval 328"/>
            <p:cNvSpPr/>
            <p:nvPr/>
          </p:nvSpPr>
          <p:spPr>
            <a:xfrm>
              <a:off x="1056068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Oval 329"/>
            <p:cNvSpPr/>
            <p:nvPr/>
          </p:nvSpPr>
          <p:spPr>
            <a:xfrm>
              <a:off x="1068133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Oval 330"/>
            <p:cNvSpPr/>
            <p:nvPr/>
          </p:nvSpPr>
          <p:spPr>
            <a:xfrm>
              <a:off x="1080198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Oval 331"/>
            <p:cNvSpPr/>
            <p:nvPr/>
          </p:nvSpPr>
          <p:spPr>
            <a:xfrm>
              <a:off x="1092263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Oval 332"/>
            <p:cNvSpPr/>
            <p:nvPr/>
          </p:nvSpPr>
          <p:spPr>
            <a:xfrm>
              <a:off x="1104328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Oval 333"/>
            <p:cNvSpPr/>
            <p:nvPr/>
          </p:nvSpPr>
          <p:spPr>
            <a:xfrm>
              <a:off x="1116393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Oval 334"/>
            <p:cNvSpPr/>
            <p:nvPr/>
          </p:nvSpPr>
          <p:spPr>
            <a:xfrm>
              <a:off x="1128458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Oval 335"/>
            <p:cNvSpPr/>
            <p:nvPr/>
          </p:nvSpPr>
          <p:spPr>
            <a:xfrm>
              <a:off x="1140523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Oval 336"/>
            <p:cNvSpPr/>
            <p:nvPr/>
          </p:nvSpPr>
          <p:spPr>
            <a:xfrm>
              <a:off x="1152588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Oval 337"/>
            <p:cNvSpPr/>
            <p:nvPr/>
          </p:nvSpPr>
          <p:spPr>
            <a:xfrm>
              <a:off x="11646535" y="245808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Oval 338"/>
            <p:cNvSpPr/>
            <p:nvPr/>
          </p:nvSpPr>
          <p:spPr>
            <a:xfrm>
              <a:off x="1056068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Oval 339"/>
            <p:cNvSpPr/>
            <p:nvPr/>
          </p:nvSpPr>
          <p:spPr>
            <a:xfrm>
              <a:off x="1068133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Oval 340"/>
            <p:cNvSpPr/>
            <p:nvPr/>
          </p:nvSpPr>
          <p:spPr>
            <a:xfrm>
              <a:off x="1080198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Oval 341"/>
            <p:cNvSpPr/>
            <p:nvPr/>
          </p:nvSpPr>
          <p:spPr>
            <a:xfrm>
              <a:off x="1092263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Oval 342"/>
            <p:cNvSpPr/>
            <p:nvPr/>
          </p:nvSpPr>
          <p:spPr>
            <a:xfrm>
              <a:off x="1104328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Oval 343"/>
            <p:cNvSpPr/>
            <p:nvPr/>
          </p:nvSpPr>
          <p:spPr>
            <a:xfrm>
              <a:off x="1116393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Oval 344"/>
            <p:cNvSpPr/>
            <p:nvPr/>
          </p:nvSpPr>
          <p:spPr>
            <a:xfrm>
              <a:off x="1128458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Oval 345"/>
            <p:cNvSpPr/>
            <p:nvPr/>
          </p:nvSpPr>
          <p:spPr>
            <a:xfrm>
              <a:off x="1140523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7" name="Oval 346"/>
            <p:cNvSpPr/>
            <p:nvPr/>
          </p:nvSpPr>
          <p:spPr>
            <a:xfrm>
              <a:off x="1152588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Oval 347"/>
            <p:cNvSpPr/>
            <p:nvPr/>
          </p:nvSpPr>
          <p:spPr>
            <a:xfrm>
              <a:off x="11646535" y="2578735"/>
              <a:ext cx="81280" cy="81280"/>
            </a:xfrm>
            <a:prstGeom prst="ellipse">
              <a:avLst/>
            </a:prstGeom>
            <a:solidFill>
              <a:srgbClr val="CDD6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49" name="TextBox 348"/>
          <p:cNvSpPr txBox="1"/>
          <p:nvPr/>
        </p:nvSpPr>
        <p:spPr>
          <a:xfrm>
            <a:off x="10541000" y="2699385"/>
            <a:ext cx="57150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</a:pPr>
            <a:r>
              <a:rPr b="1" sz="1000">
                <a:solidFill>
                  <a:srgbClr val="5F6B8C"/>
                </a:solidFill>
                <a:latin typeface="Arial"/>
              </a:rPr>
              <a:t>per 100 starters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8731250" y="2942431"/>
            <a:ext cx="5715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</a:pPr>
            <a:r>
              <a:rPr b="0" sz="1250">
                <a:solidFill>
                  <a:srgbClr val="0C0C0E"/>
                </a:solidFill>
                <a:latin typeface="Arial"/>
              </a:rPr>
              <a:t>of </a:t>
            </a:r>
            <a:r>
              <a:rPr b="0" sz="1250">
                <a:solidFill>
                  <a:srgbClr val="0C0C0E"/>
                </a:solidFill>
                <a:latin typeface="Arial"/>
              </a:rPr>
              <a:t>starters </a:t>
            </a:r>
            <a:r>
              <a:rPr b="0" sz="1250">
                <a:solidFill>
                  <a:srgbClr val="0C0C0E"/>
                </a:solidFill>
                <a:latin typeface="Arial"/>
              </a:rPr>
              <a:t>are </a:t>
            </a:r>
            <a:r>
              <a:rPr b="1" sz="1250">
                <a:solidFill>
                  <a:srgbClr val="0C0C0E"/>
                </a:solidFill>
                <a:latin typeface="Arial"/>
              </a:rPr>
              <a:t>still </a:t>
            </a:r>
            <a:r>
              <a:rPr b="1" sz="1250">
                <a:solidFill>
                  <a:srgbClr val="0C0C0E"/>
                </a:solidFill>
                <a:latin typeface="Arial"/>
              </a:rPr>
              <a:t>paying </a:t>
            </a:r>
            <a:r>
              <a:rPr b="1" sz="1250">
                <a:solidFill>
                  <a:srgbClr val="0C0C0E"/>
                </a:solidFill>
                <a:latin typeface="Arial"/>
              </a:rPr>
              <a:t>on </a:t>
            </a:r>
            <a:r>
              <a:rPr b="1" sz="1250">
                <a:solidFill>
                  <a:srgbClr val="0C0C0E"/>
                </a:solidFill>
                <a:latin typeface="Arial"/>
              </a:rPr>
              <a:t>Day </a:t>
            </a:r>
            <a:r>
              <a:rPr b="1" sz="1250">
                <a:solidFill>
                  <a:srgbClr val="0C0C0E"/>
                </a:solidFill>
                <a:latin typeface="Arial"/>
              </a:rPr>
              <a:t>90</a:t>
            </a:r>
          </a:p>
          <a:p>
            <a:pPr>
              <a:lnSpc>
                <a:spcPts val="1600"/>
              </a:lnSpc>
            </a:pPr>
            <a:r>
              <a:rPr b="0" sz="1250">
                <a:solidFill>
                  <a:srgbClr val="0C0C0E"/>
                </a:solidFill>
                <a:latin typeface="Arial"/>
              </a:rPr>
              <a:t>(₹399 </a:t>
            </a:r>
            <a:r>
              <a:rPr b="0" sz="1250">
                <a:solidFill>
                  <a:srgbClr val="0C0C0E"/>
                </a:solidFill>
                <a:latin typeface="Arial"/>
              </a:rPr>
              <a:t>a </a:t>
            </a:r>
            <a:r>
              <a:rPr b="0" sz="1250">
                <a:solidFill>
                  <a:srgbClr val="0C0C0E"/>
                </a:solidFill>
                <a:latin typeface="Arial"/>
              </a:rPr>
              <a:t>month)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8731250" y="3619500"/>
            <a:ext cx="3003550" cy="12700"/>
          </a:xfrm>
          <a:prstGeom prst="rect">
            <a:avLst/>
          </a:prstGeom>
          <a:solidFill>
            <a:srgbClr val="C4D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8731250" y="3733673"/>
            <a:ext cx="35560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800">
                <a:solidFill>
                  <a:srgbClr val="0492B0"/>
                </a:solidFill>
                <a:latin typeface="Arial"/>
              </a:rPr>
              <a:t>P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8731250" y="4013200"/>
            <a:ext cx="355600" cy="254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8731250" y="4063873"/>
            <a:ext cx="35560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800">
                <a:solidFill>
                  <a:srgbClr val="0492B0"/>
                </a:solidFill>
                <a:latin typeface="Arial"/>
              </a:rPr>
              <a:t>T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9150350" y="3909378"/>
            <a:ext cx="571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</a:pPr>
            <a:r>
              <a:rPr b="1" sz="1500">
                <a:solidFill>
                  <a:srgbClr val="0C0C0E"/>
                </a:solidFill>
                <a:latin typeface="Arial"/>
              </a:rPr>
              <a:t>× 100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9779000" y="3681444"/>
            <a:ext cx="21209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</a:pPr>
            <a:r>
              <a:rPr b="1" sz="1050">
                <a:solidFill>
                  <a:srgbClr val="0C0C0E"/>
                </a:solidFill>
                <a:latin typeface="Arial"/>
              </a:rPr>
              <a:t>P </a:t>
            </a:r>
            <a:r>
              <a:rPr b="0" sz="1050">
                <a:solidFill>
                  <a:srgbClr val="0C0C0E"/>
                </a:solidFill>
                <a:latin typeface="Arial"/>
              </a:rPr>
              <a:t>= </a:t>
            </a:r>
            <a:r>
              <a:rPr b="0" sz="1050">
                <a:solidFill>
                  <a:srgbClr val="0C0C0E"/>
                </a:solidFill>
                <a:latin typeface="Arial"/>
              </a:rPr>
              <a:t>users </a:t>
            </a:r>
            <a:r>
              <a:rPr b="0" sz="1050">
                <a:solidFill>
                  <a:srgbClr val="0C0C0E"/>
                </a:solidFill>
                <a:latin typeface="Arial"/>
              </a:rPr>
              <a:t>with </a:t>
            </a:r>
            <a:r>
              <a:rPr b="0" sz="1050">
                <a:solidFill>
                  <a:srgbClr val="0C0C0E"/>
                </a:solidFill>
                <a:latin typeface="Arial"/>
              </a:rPr>
              <a:t>a </a:t>
            </a:r>
            <a:r>
              <a:rPr b="0" sz="1050">
                <a:solidFill>
                  <a:srgbClr val="0C0C0E"/>
                </a:solidFill>
                <a:latin typeface="Arial"/>
              </a:rPr>
              <a:t>payment </a:t>
            </a:r>
            <a:r>
              <a:rPr b="0" sz="1050">
                <a:solidFill>
                  <a:srgbClr val="0C0C0E"/>
                </a:solidFill>
                <a:latin typeface="Arial"/>
              </a:rPr>
              <a:t>in </a:t>
            </a:r>
            <a:r>
              <a:rPr b="0" sz="1050">
                <a:solidFill>
                  <a:srgbClr val="0C0C0E"/>
                </a:solidFill>
                <a:latin typeface="Arial"/>
              </a:rPr>
              <a:t>the</a:t>
            </a:r>
          </a:p>
          <a:p>
            <a:pPr>
              <a:lnSpc>
                <a:spcPts val="1300"/>
              </a:lnSpc>
            </a:pPr>
            <a:r>
              <a:rPr b="0" sz="1050">
                <a:solidFill>
                  <a:srgbClr val="0C0C0E"/>
                </a:solidFill>
                <a:latin typeface="Arial"/>
              </a:rPr>
              <a:t>last </a:t>
            </a:r>
            <a:r>
              <a:rPr b="0" sz="1050">
                <a:solidFill>
                  <a:srgbClr val="0C0C0E"/>
                </a:solidFill>
                <a:latin typeface="Arial"/>
              </a:rPr>
              <a:t>30 </a:t>
            </a:r>
            <a:r>
              <a:rPr b="0" sz="1050">
                <a:solidFill>
                  <a:srgbClr val="0C0C0E"/>
                </a:solidFill>
                <a:latin typeface="Arial"/>
              </a:rPr>
              <a:t>days, </a:t>
            </a:r>
            <a:r>
              <a:rPr b="0" sz="1050">
                <a:solidFill>
                  <a:srgbClr val="0C0C0E"/>
                </a:solidFill>
                <a:latin typeface="Arial"/>
              </a:rPr>
              <a:t>at </a:t>
            </a:r>
            <a:r>
              <a:rPr b="0" sz="1050">
                <a:solidFill>
                  <a:srgbClr val="0C0C0E"/>
                </a:solidFill>
                <a:latin typeface="Arial"/>
              </a:rPr>
              <a:t>Day </a:t>
            </a:r>
            <a:r>
              <a:rPr b="0" sz="1050">
                <a:solidFill>
                  <a:srgbClr val="0C0C0E"/>
                </a:solidFill>
                <a:latin typeface="Arial"/>
              </a:rPr>
              <a:t>90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9779000" y="4043394"/>
            <a:ext cx="21209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</a:pPr>
            <a:r>
              <a:rPr b="1" sz="1050">
                <a:solidFill>
                  <a:srgbClr val="0C0C0E"/>
                </a:solidFill>
                <a:latin typeface="Arial"/>
              </a:rPr>
              <a:t>T </a:t>
            </a:r>
            <a:r>
              <a:rPr b="0" sz="1050">
                <a:solidFill>
                  <a:srgbClr val="0C0C0E"/>
                </a:solidFill>
                <a:latin typeface="Arial"/>
              </a:rPr>
              <a:t>= </a:t>
            </a:r>
            <a:r>
              <a:rPr b="0" sz="1050">
                <a:solidFill>
                  <a:srgbClr val="0C0C0E"/>
                </a:solidFill>
                <a:latin typeface="Arial"/>
              </a:rPr>
              <a:t>users </a:t>
            </a:r>
            <a:r>
              <a:rPr b="0" sz="1050">
                <a:solidFill>
                  <a:srgbClr val="0C0C0E"/>
                </a:solidFill>
                <a:latin typeface="Arial"/>
              </a:rPr>
              <a:t>who </a:t>
            </a:r>
            <a:r>
              <a:rPr b="0" sz="1050">
                <a:solidFill>
                  <a:srgbClr val="0C0C0E"/>
                </a:solidFill>
                <a:latin typeface="Arial"/>
              </a:rPr>
              <a:t>completed </a:t>
            </a:r>
            <a:r>
              <a:rPr b="0" sz="1050">
                <a:solidFill>
                  <a:srgbClr val="0C0C0E"/>
                </a:solidFill>
                <a:latin typeface="Arial"/>
              </a:rPr>
              <a:t>the</a:t>
            </a:r>
          </a:p>
          <a:p>
            <a:pPr>
              <a:lnSpc>
                <a:spcPts val="1300"/>
              </a:lnSpc>
            </a:pPr>
            <a:r>
              <a:rPr b="0" sz="1050">
                <a:solidFill>
                  <a:srgbClr val="0C0C0E"/>
                </a:solidFill>
                <a:latin typeface="Arial"/>
              </a:rPr>
              <a:t>Day-1 </a:t>
            </a:r>
            <a:r>
              <a:rPr b="0" sz="1050">
                <a:solidFill>
                  <a:srgbClr val="0C0C0E"/>
                </a:solidFill>
                <a:latin typeface="Arial"/>
              </a:rPr>
              <a:t>check-in</a:t>
            </a:r>
          </a:p>
        </p:txBody>
      </p:sp>
      <p:sp>
        <p:nvSpPr>
          <p:cNvPr id="358" name="Right Arrow 357"/>
          <p:cNvSpPr/>
          <p:nvPr/>
        </p:nvSpPr>
        <p:spPr>
          <a:xfrm>
            <a:off x="3797300" y="1651000"/>
            <a:ext cx="482600" cy="279400"/>
          </a:xfrm>
          <a:prstGeom prst="rightArrow">
            <a:avLst/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3695700" y="1442783"/>
            <a:ext cx="63500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20"/>
              </a:lnSpc>
            </a:pPr>
            <a:r>
              <a:rPr b="1" sz="1100">
                <a:solidFill>
                  <a:srgbClr val="1F57D6"/>
                </a:solidFill>
                <a:latin typeface="Arial"/>
              </a:rPr>
              <a:t>predicts</a:t>
            </a:r>
          </a:p>
        </p:txBody>
      </p:sp>
      <p:sp>
        <p:nvSpPr>
          <p:cNvPr id="360" name="Right Arrow 359"/>
          <p:cNvSpPr/>
          <p:nvPr/>
        </p:nvSpPr>
        <p:spPr>
          <a:xfrm>
            <a:off x="7943850" y="1651000"/>
            <a:ext cx="482600" cy="279400"/>
          </a:xfrm>
          <a:prstGeom prst="rightArrow">
            <a:avLst/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7842250" y="1442783"/>
            <a:ext cx="63500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20"/>
              </a:lnSpc>
            </a:pPr>
            <a:r>
              <a:rPr b="1" sz="1100">
                <a:solidFill>
                  <a:srgbClr val="1F57D6"/>
                </a:solidFill>
                <a:latin typeface="Arial"/>
              </a:rPr>
              <a:t>drives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184150" y="4800600"/>
            <a:ext cx="11817350" cy="1625600"/>
          </a:xfrm>
          <a:prstGeom prst="roundRect">
            <a:avLst>
              <a:gd name="adj" fmla="val 11718"/>
            </a:avLst>
          </a:prstGeom>
          <a:solidFill>
            <a:srgbClr val="DE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387350" y="489077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</a:pPr>
            <a:r>
              <a:rPr b="1" sz="2000">
                <a:solidFill>
                  <a:srgbClr val="0C0C0E"/>
                </a:solidFill>
                <a:latin typeface="Arial"/>
              </a:rPr>
              <a:t>The causal link</a:t>
            </a:r>
          </a:p>
        </p:txBody>
      </p:sp>
      <p:sp>
        <p:nvSpPr>
          <p:cNvPr id="364" name="Rounded Rectangle 363"/>
          <p:cNvSpPr/>
          <p:nvPr/>
        </p:nvSpPr>
        <p:spPr>
          <a:xfrm>
            <a:off x="273050" y="5270500"/>
            <a:ext cx="11639550" cy="1066800"/>
          </a:xfrm>
          <a:prstGeom prst="roundRect">
            <a:avLst>
              <a:gd name="adj" fmla="val 13095"/>
            </a:avLst>
          </a:prstGeom>
          <a:solidFill>
            <a:srgbClr val="FFFFFF"/>
          </a:solidFill>
          <a:ln w="12700">
            <a:solidFill>
              <a:srgbClr val="C4D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438150" y="5397500"/>
            <a:ext cx="292100" cy="292100"/>
          </a:xfrm>
          <a:prstGeom prst="ellipse">
            <a:avLst/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831850" y="5337778"/>
            <a:ext cx="5715000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9"/>
              </a:lnSpc>
            </a:pPr>
            <a:r>
              <a:rPr b="1" sz="1450">
                <a:solidFill>
                  <a:srgbClr val="0C0C0E"/>
                </a:solidFill>
                <a:latin typeface="Arial"/>
              </a:rPr>
              <a:t>User sees proof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831850" y="5582063"/>
            <a:ext cx="57150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</a:pPr>
            <a:r>
              <a:rPr b="0" sz="1150">
                <a:solidFill>
                  <a:srgbClr val="0C0C0E"/>
                </a:solidFill>
                <a:latin typeface="Arial"/>
              </a:rPr>
              <a:t>Their </a:t>
            </a:r>
            <a:r>
              <a:rPr b="0" sz="1150">
                <a:solidFill>
                  <a:srgbClr val="0C0C0E"/>
                </a:solidFill>
                <a:latin typeface="Arial"/>
              </a:rPr>
              <a:t>Health </a:t>
            </a:r>
            <a:r>
              <a:rPr b="0" sz="1150">
                <a:solidFill>
                  <a:srgbClr val="0C0C0E"/>
                </a:solidFill>
                <a:latin typeface="Arial"/>
              </a:rPr>
              <a:t>Factor </a:t>
            </a:r>
            <a:r>
              <a:rPr b="0" sz="1150">
                <a:solidFill>
                  <a:srgbClr val="0C0C0E"/>
                </a:solidFill>
                <a:latin typeface="Arial"/>
              </a:rPr>
              <a:t>trend </a:t>
            </a:r>
            <a:r>
              <a:rPr b="0" sz="1150">
                <a:solidFill>
                  <a:srgbClr val="0C0C0E"/>
                </a:solidFill>
                <a:latin typeface="Arial"/>
              </a:rPr>
              <a:t>answers </a:t>
            </a:r>
            <a:r>
              <a:rPr b="0" sz="1150">
                <a:solidFill>
                  <a:srgbClr val="0C0C0E"/>
                </a:solidFill>
                <a:latin typeface="Arial"/>
              </a:rPr>
              <a:t>“how </a:t>
            </a:r>
            <a:r>
              <a:rPr b="0" sz="1150">
                <a:solidFill>
                  <a:srgbClr val="0C0C0E"/>
                </a:solidFill>
                <a:latin typeface="Arial"/>
              </a:rPr>
              <a:t>will </a:t>
            </a:r>
            <a:r>
              <a:rPr b="0" sz="1150">
                <a:solidFill>
                  <a:srgbClr val="0C0C0E"/>
                </a:solidFill>
                <a:latin typeface="Arial"/>
              </a:rPr>
              <a:t>I</a:t>
            </a:r>
          </a:p>
          <a:p>
            <a:pPr>
              <a:lnSpc>
                <a:spcPts val="1500"/>
              </a:lnSpc>
            </a:pPr>
            <a:r>
              <a:rPr b="0" sz="1150">
                <a:solidFill>
                  <a:srgbClr val="0C0C0E"/>
                </a:solidFill>
                <a:latin typeface="Arial"/>
              </a:rPr>
              <a:t>know </a:t>
            </a:r>
            <a:r>
              <a:rPr b="0" sz="1150">
                <a:solidFill>
                  <a:srgbClr val="0C0C0E"/>
                </a:solidFill>
                <a:latin typeface="Arial"/>
              </a:rPr>
              <a:t>it </a:t>
            </a:r>
            <a:r>
              <a:rPr b="0" sz="1150">
                <a:solidFill>
                  <a:srgbClr val="0C0C0E"/>
                </a:solidFill>
                <a:latin typeface="Arial"/>
              </a:rPr>
              <a:t>works?”</a:t>
            </a:r>
          </a:p>
        </p:txBody>
      </p:sp>
      <p:sp>
        <p:nvSpPr>
          <p:cNvPr id="368" name="Isosceles Triangle 367"/>
          <p:cNvSpPr/>
          <p:nvPr/>
        </p:nvSpPr>
        <p:spPr>
          <a:xfrm rot="5400000">
            <a:off x="4057650" y="5461000"/>
            <a:ext cx="165100" cy="152400"/>
          </a:xfrm>
          <a:prstGeom prst="triangle">
            <a:avLst/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4356100" y="5397500"/>
            <a:ext cx="292100" cy="292100"/>
          </a:xfrm>
          <a:prstGeom prst="ellipse">
            <a:avLst/>
          </a:prstGeom>
          <a:solidFill>
            <a:srgbClr val="049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4749800" y="5337778"/>
            <a:ext cx="5715000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9"/>
              </a:lnSpc>
            </a:pPr>
            <a:r>
              <a:rPr b="1" sz="1450">
                <a:solidFill>
                  <a:srgbClr val="0C0C0E"/>
                </a:solidFill>
                <a:latin typeface="Arial"/>
              </a:rPr>
              <a:t>So they keep paying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4749800" y="5582063"/>
            <a:ext cx="571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</a:pPr>
            <a:r>
              <a:rPr b="0" sz="1150">
                <a:solidFill>
                  <a:srgbClr val="0C0C0E"/>
                </a:solidFill>
                <a:latin typeface="Arial"/>
              </a:rPr>
              <a:t>₹399 </a:t>
            </a:r>
            <a:r>
              <a:rPr b="0" sz="1150">
                <a:solidFill>
                  <a:srgbClr val="0C0C0E"/>
                </a:solidFill>
                <a:latin typeface="Arial"/>
              </a:rPr>
              <a:t>a </a:t>
            </a:r>
            <a:r>
              <a:rPr b="0" sz="1150">
                <a:solidFill>
                  <a:srgbClr val="0C0C0E"/>
                </a:solidFill>
                <a:latin typeface="Arial"/>
              </a:rPr>
              <a:t>month, </a:t>
            </a:r>
            <a:r>
              <a:rPr b="0" sz="1150">
                <a:solidFill>
                  <a:srgbClr val="0C0C0E"/>
                </a:solidFill>
                <a:latin typeface="Arial"/>
              </a:rPr>
              <a:t>inside </a:t>
            </a:r>
            <a:r>
              <a:rPr b="0" sz="1150">
                <a:solidFill>
                  <a:srgbClr val="0C0C0E"/>
                </a:solidFill>
                <a:latin typeface="Arial"/>
              </a:rPr>
              <a:t>the </a:t>
            </a:r>
            <a:r>
              <a:rPr b="0" sz="1150">
                <a:solidFill>
                  <a:srgbClr val="0C0C0E"/>
                </a:solidFill>
                <a:latin typeface="Arial"/>
              </a:rPr>
              <a:t>₹500 </a:t>
            </a:r>
            <a:r>
              <a:rPr b="0" sz="1150">
                <a:solidFill>
                  <a:srgbClr val="0C0C0E"/>
                </a:solidFill>
                <a:latin typeface="Arial"/>
              </a:rPr>
              <a:t>“affordable” </a:t>
            </a:r>
            <a:r>
              <a:rPr b="0" sz="1150">
                <a:solidFill>
                  <a:srgbClr val="0C0C0E"/>
                </a:solidFill>
                <a:latin typeface="Arial"/>
              </a:rPr>
              <a:t>limit</a:t>
            </a:r>
          </a:p>
        </p:txBody>
      </p:sp>
      <p:sp>
        <p:nvSpPr>
          <p:cNvPr id="372" name="Isosceles Triangle 371"/>
          <p:cNvSpPr/>
          <p:nvPr/>
        </p:nvSpPr>
        <p:spPr>
          <a:xfrm rot="5400000">
            <a:off x="7975600" y="5461000"/>
            <a:ext cx="165100" cy="152400"/>
          </a:xfrm>
          <a:prstGeom prst="triangle">
            <a:avLst/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8274050" y="5397500"/>
            <a:ext cx="292100" cy="292100"/>
          </a:xfrm>
          <a:prstGeom prst="ellipse">
            <a:avLst/>
          </a:prstGeom>
          <a:solidFill>
            <a:srgbClr val="0D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8667750" y="5337778"/>
            <a:ext cx="5715000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9"/>
              </a:lnSpc>
            </a:pPr>
            <a:r>
              <a:rPr b="1" sz="1450">
                <a:solidFill>
                  <a:srgbClr val="0C0C0E"/>
                </a:solidFill>
                <a:latin typeface="Arial"/>
              </a:rPr>
              <a:t>Doctors see results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8667750" y="5582063"/>
            <a:ext cx="571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</a:pPr>
            <a:r>
              <a:rPr b="0" sz="1150">
                <a:solidFill>
                  <a:srgbClr val="0C0C0E"/>
                </a:solidFill>
                <a:latin typeface="Arial"/>
              </a:rPr>
              <a:t>and </a:t>
            </a:r>
            <a:r>
              <a:rPr b="0" sz="1150">
                <a:solidFill>
                  <a:srgbClr val="0C0C0E"/>
                </a:solidFill>
                <a:latin typeface="Arial"/>
              </a:rPr>
              <a:t>recommend </a:t>
            </a:r>
            <a:r>
              <a:rPr b="0" sz="1150">
                <a:solidFill>
                  <a:srgbClr val="0C0C0E"/>
                </a:solidFill>
                <a:latin typeface="Arial"/>
              </a:rPr>
              <a:t>Pulsie </a:t>
            </a:r>
            <a:r>
              <a:rPr b="0" sz="1150">
                <a:solidFill>
                  <a:srgbClr val="0C0C0E"/>
                </a:solidFill>
                <a:latin typeface="Arial"/>
              </a:rPr>
              <a:t>to </a:t>
            </a:r>
            <a:r>
              <a:rPr b="0" sz="1150">
                <a:solidFill>
                  <a:srgbClr val="0C0C0E"/>
                </a:solidFill>
                <a:latin typeface="Arial"/>
              </a:rPr>
              <a:t>their </a:t>
            </a:r>
            <a:r>
              <a:rPr b="0" sz="1150">
                <a:solidFill>
                  <a:srgbClr val="0C0C0E"/>
                </a:solidFill>
                <a:latin typeface="Arial"/>
              </a:rPr>
              <a:t>other </a:t>
            </a:r>
            <a:r>
              <a:rPr b="0" sz="1150">
                <a:solidFill>
                  <a:srgbClr val="0C0C0E"/>
                </a:solidFill>
                <a:latin typeface="Arial"/>
              </a:rPr>
              <a:t>patients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438150" y="6072283"/>
            <a:ext cx="11309350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0"/>
              </a:lnSpc>
            </a:pPr>
            <a:r>
              <a:rPr b="1" sz="1150">
                <a:solidFill>
                  <a:srgbClr val="0C0C0E"/>
                </a:solidFill>
                <a:latin typeface="Arial"/>
              </a:rPr>
              <a:t>Pilot test:</a:t>
            </a:r>
            <a:r>
              <a:rPr b="0" sz="1150">
                <a:solidFill>
                  <a:srgbClr val="0C0C0E"/>
                </a:solidFill>
                <a:latin typeface="Arial"/>
              </a:rPr>
              <a:t> users who hit +10 should still be paying far more often than users who don’t.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0" y="6565900"/>
            <a:ext cx="12192000" cy="292100"/>
          </a:xfrm>
          <a:prstGeom prst="rect">
            <a:avLst/>
          </a:prstGeom>
          <a:solidFill>
            <a:srgbClr val="0B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