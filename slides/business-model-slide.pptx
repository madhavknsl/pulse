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41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034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227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20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13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Metrics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06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150" y="660400"/>
            <a:ext cx="5842000" cy="3232150"/>
          </a:xfrm>
          <a:prstGeom prst="roundRect">
            <a:avLst>
              <a:gd name="adj" fmla="val 5893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350" y="711200"/>
            <a:ext cx="54356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Who pays, how much, when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050" y="1130300"/>
            <a:ext cx="5664200" cy="2673350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150" y="1270000"/>
            <a:ext cx="5334000" cy="2393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215900" indent="-215900">
              <a:lnSpc>
                <a:spcPts val="2000"/>
              </a:lnSpc>
              <a:spcBef>
                <a:spcPts val="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Patient </a:t>
            </a:r>
            <a:r>
              <a:rPr b="1" sz="1450">
                <a:solidFill>
                  <a:srgbClr val="0C0C0E"/>
                </a:solidFill>
                <a:latin typeface="Arial"/>
              </a:rPr>
              <a:t>pays </a:t>
            </a:r>
            <a:r>
              <a:rPr b="1" sz="1450">
                <a:solidFill>
                  <a:srgbClr val="0C0C0E"/>
                </a:solidFill>
                <a:latin typeface="Arial"/>
              </a:rPr>
              <a:t>₹399 </a:t>
            </a:r>
            <a:r>
              <a:rPr b="1" sz="1450">
                <a:solidFill>
                  <a:srgbClr val="0C0C0E"/>
                </a:solidFill>
                <a:latin typeface="Arial"/>
              </a:rPr>
              <a:t>a </a:t>
            </a:r>
            <a:r>
              <a:rPr b="1" sz="1450">
                <a:solidFill>
                  <a:srgbClr val="0C0C0E"/>
                </a:solidFill>
                <a:latin typeface="Arial"/>
              </a:rPr>
              <a:t>month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inside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₹500 </a:t>
            </a:r>
            <a:r>
              <a:rPr b="0" sz="1450">
                <a:solidFill>
                  <a:srgbClr val="0C0C0E"/>
                </a:solidFill>
                <a:latin typeface="Arial"/>
              </a:rPr>
              <a:t>“affordable”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limit </a:t>
            </a:r>
            <a:r>
              <a:rPr b="0" sz="1450">
                <a:solidFill>
                  <a:srgbClr val="0C0C0E"/>
                </a:solidFill>
                <a:latin typeface="Arial"/>
              </a:rPr>
              <a:t>(range </a:t>
            </a:r>
            <a:r>
              <a:rPr b="0" sz="1450">
                <a:solidFill>
                  <a:srgbClr val="0C0C0E"/>
                </a:solidFill>
                <a:latin typeface="Arial"/>
              </a:rPr>
              <a:t>₹299–499)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Doctors </a:t>
            </a:r>
            <a:r>
              <a:rPr b="1" sz="1450">
                <a:solidFill>
                  <a:srgbClr val="0C0C0E"/>
                </a:solidFill>
                <a:latin typeface="Arial"/>
              </a:rPr>
              <a:t>pay </a:t>
            </a:r>
            <a:r>
              <a:rPr b="1" sz="1450">
                <a:solidFill>
                  <a:srgbClr val="0C0C0E"/>
                </a:solidFill>
                <a:latin typeface="Arial"/>
              </a:rPr>
              <a:t>nothing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they </a:t>
            </a:r>
            <a:r>
              <a:rPr b="0" sz="1450">
                <a:solidFill>
                  <a:srgbClr val="0C0C0E"/>
                </a:solidFill>
                <a:latin typeface="Arial"/>
              </a:rPr>
              <a:t>get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one-page </a:t>
            </a:r>
            <a:r>
              <a:rPr b="0" sz="1450">
                <a:solidFill>
                  <a:srgbClr val="0C0C0E"/>
                </a:solidFill>
                <a:latin typeface="Arial"/>
              </a:rPr>
              <a:t>summary </a:t>
            </a:r>
            <a:r>
              <a:rPr b="0" sz="1450">
                <a:solidFill>
                  <a:srgbClr val="0C0C0E"/>
                </a:solidFill>
                <a:latin typeface="Arial"/>
              </a:rPr>
              <a:t>and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keep </a:t>
            </a:r>
            <a:r>
              <a:rPr b="0" sz="1450">
                <a:solidFill>
                  <a:srgbClr val="0C0C0E"/>
                </a:solidFill>
                <a:latin typeface="Arial"/>
              </a:rPr>
              <a:t>patients </a:t>
            </a:r>
            <a:r>
              <a:rPr b="0" sz="1450">
                <a:solidFill>
                  <a:srgbClr val="0C0C0E"/>
                </a:solidFill>
                <a:latin typeface="Arial"/>
              </a:rPr>
              <a:t>longer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Billing </a:t>
            </a:r>
            <a:r>
              <a:rPr b="1" sz="1450">
                <a:solidFill>
                  <a:srgbClr val="0C0C0E"/>
                </a:solidFill>
                <a:latin typeface="Arial"/>
              </a:rPr>
              <a:t>starts </a:t>
            </a:r>
            <a:r>
              <a:rPr b="1" sz="1450">
                <a:solidFill>
                  <a:srgbClr val="0C0C0E"/>
                </a:solidFill>
                <a:latin typeface="Arial"/>
              </a:rPr>
              <a:t>after </a:t>
            </a:r>
            <a:r>
              <a:rPr b="1" sz="1450">
                <a:solidFill>
                  <a:srgbClr val="0C0C0E"/>
                </a:solidFill>
                <a:latin typeface="Arial"/>
              </a:rPr>
              <a:t>the </a:t>
            </a:r>
            <a:r>
              <a:rPr b="1" sz="1450">
                <a:solidFill>
                  <a:srgbClr val="0C0C0E"/>
                </a:solidFill>
                <a:latin typeface="Arial"/>
              </a:rPr>
              <a:t>first </a:t>
            </a:r>
            <a:r>
              <a:rPr b="1" sz="1450">
                <a:solidFill>
                  <a:srgbClr val="0C0C0E"/>
                </a:solidFill>
                <a:latin typeface="Arial"/>
              </a:rPr>
              <a:t>weeks</a:t>
            </a:r>
            <a:r>
              <a:rPr b="0" sz="1450">
                <a:solidFill>
                  <a:srgbClr val="0C0C0E"/>
                </a:solidFill>
                <a:latin typeface="Arial"/>
              </a:rPr>
              <a:t>, </a:t>
            </a:r>
            <a:r>
              <a:rPr b="0" sz="1450">
                <a:solidFill>
                  <a:srgbClr val="0C0C0E"/>
                </a:solidFill>
                <a:latin typeface="Arial"/>
              </a:rPr>
              <a:t>once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user </a:t>
            </a:r>
            <a:r>
              <a:rPr b="0" sz="1450">
                <a:solidFill>
                  <a:srgbClr val="0C0C0E"/>
                </a:solidFill>
                <a:latin typeface="Arial"/>
              </a:rPr>
              <a:t>has </a:t>
            </a:r>
            <a:r>
              <a:rPr b="0" sz="1450">
                <a:solidFill>
                  <a:srgbClr val="0C0C0E"/>
                </a:solidFill>
                <a:latin typeface="Arial"/>
              </a:rPr>
              <a:t>seen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their </a:t>
            </a:r>
            <a:r>
              <a:rPr b="0" sz="1450">
                <a:solidFill>
                  <a:srgbClr val="0C0C0E"/>
                </a:solidFill>
                <a:latin typeface="Arial"/>
              </a:rPr>
              <a:t>own </a:t>
            </a:r>
            <a:r>
              <a:rPr b="0" sz="1450">
                <a:solidFill>
                  <a:srgbClr val="0C0C0E"/>
                </a:solidFill>
                <a:latin typeface="Arial"/>
              </a:rPr>
              <a:t>trend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Later: </a:t>
            </a:r>
            <a:r>
              <a:rPr b="0" sz="1450">
                <a:solidFill>
                  <a:srgbClr val="0C0C0E"/>
                </a:solidFill>
                <a:latin typeface="Arial"/>
              </a:rPr>
              <a:t>employer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insurer </a:t>
            </a:r>
            <a:r>
              <a:rPr b="0" sz="1450">
                <a:solidFill>
                  <a:srgbClr val="0C0C0E"/>
                </a:solidFill>
                <a:latin typeface="Arial"/>
              </a:rPr>
              <a:t>plans, </a:t>
            </a:r>
            <a:r>
              <a:rPr b="0" sz="1450">
                <a:solidFill>
                  <a:srgbClr val="0C0C0E"/>
                </a:solidFill>
                <a:latin typeface="Arial"/>
              </a:rPr>
              <a:t>not </a:t>
            </a:r>
            <a:r>
              <a:rPr b="0" sz="1450">
                <a:solidFill>
                  <a:srgbClr val="0C0C0E"/>
                </a:solidFill>
                <a:latin typeface="Arial"/>
              </a:rPr>
              <a:t>in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150" y="4032250"/>
            <a:ext cx="5842000" cy="2393950"/>
          </a:xfrm>
          <a:prstGeom prst="roundRect">
            <a:avLst>
              <a:gd name="adj" fmla="val 7957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350" y="4083050"/>
            <a:ext cx="54356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Why they keep paying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050" y="4502150"/>
            <a:ext cx="5664200" cy="1835150"/>
          </a:xfrm>
          <a:prstGeom prst="roundRect">
            <a:avLst>
              <a:gd name="adj" fmla="val 7612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" y="4641850"/>
            <a:ext cx="5334000" cy="155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215900" indent="-215900">
              <a:lnSpc>
                <a:spcPts val="2000"/>
              </a:lnSpc>
              <a:spcBef>
                <a:spcPts val="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Proof </a:t>
            </a:r>
            <a:r>
              <a:rPr b="1" sz="1450">
                <a:solidFill>
                  <a:srgbClr val="0C0C0E"/>
                </a:solidFill>
                <a:latin typeface="Arial"/>
              </a:rPr>
              <a:t>it </a:t>
            </a:r>
            <a:r>
              <a:rPr b="1" sz="1450">
                <a:solidFill>
                  <a:srgbClr val="0C0C0E"/>
                </a:solidFill>
                <a:latin typeface="Arial"/>
              </a:rPr>
              <a:t>works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user </a:t>
            </a:r>
            <a:r>
              <a:rPr b="0" sz="1450">
                <a:solidFill>
                  <a:srgbClr val="0C0C0E"/>
                </a:solidFill>
                <a:latin typeface="Arial"/>
              </a:rPr>
              <a:t>sees </a:t>
            </a:r>
            <a:r>
              <a:rPr b="0" sz="1450">
                <a:solidFill>
                  <a:srgbClr val="0C0C0E"/>
                </a:solidFill>
                <a:latin typeface="Arial"/>
              </a:rPr>
              <a:t>their </a:t>
            </a:r>
            <a:r>
              <a:rPr b="0" sz="1450">
                <a:solidFill>
                  <a:srgbClr val="0C0C0E"/>
                </a:solidFill>
                <a:latin typeface="Arial"/>
              </a:rPr>
              <a:t>own </a:t>
            </a:r>
            <a:r>
              <a:rPr b="0" sz="1450">
                <a:solidFill>
                  <a:srgbClr val="0C0C0E"/>
                </a:solidFill>
                <a:latin typeface="Arial"/>
              </a:rPr>
              <a:t>Health </a:t>
            </a:r>
            <a:r>
              <a:rPr b="0" sz="1450">
                <a:solidFill>
                  <a:srgbClr val="0C0C0E"/>
                </a:solidFill>
                <a:latin typeface="Arial"/>
              </a:rPr>
              <a:t>Factor </a:t>
            </a:r>
            <a:r>
              <a:rPr b="0" sz="1450">
                <a:solidFill>
                  <a:srgbClr val="0C0C0E"/>
                </a:solidFill>
                <a:latin typeface="Arial"/>
              </a:rPr>
              <a:t>trend</a:t>
            </a:r>
          </a:p>
          <a:p>
            <a:pPr marL="215900" indent="-215900">
              <a:lnSpc>
                <a:spcPts val="2000"/>
              </a:lnSpc>
              <a:spcBef>
                <a:spcPts val="14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A </a:t>
            </a:r>
            <a:r>
              <a:rPr b="1" sz="1450">
                <a:solidFill>
                  <a:srgbClr val="0C0C0E"/>
                </a:solidFill>
                <a:latin typeface="Arial"/>
              </a:rPr>
              <a:t>reason </a:t>
            </a:r>
            <a:r>
              <a:rPr b="1" sz="1450">
                <a:solidFill>
                  <a:srgbClr val="0C0C0E"/>
                </a:solidFill>
                <a:latin typeface="Arial"/>
              </a:rPr>
              <a:t>every </a:t>
            </a:r>
            <a:r>
              <a:rPr b="1" sz="1450">
                <a:solidFill>
                  <a:srgbClr val="0C0C0E"/>
                </a:solidFill>
                <a:latin typeface="Arial"/>
              </a:rPr>
              <a:t>month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fresh </a:t>
            </a:r>
            <a:r>
              <a:rPr b="0" sz="1450">
                <a:solidFill>
                  <a:srgbClr val="0C0C0E"/>
                </a:solidFill>
                <a:latin typeface="Arial"/>
              </a:rPr>
              <a:t>summary </a:t>
            </a:r>
            <a:r>
              <a:rPr b="0" sz="1450">
                <a:solidFill>
                  <a:srgbClr val="0C0C0E"/>
                </a:solidFill>
                <a:latin typeface="Arial"/>
              </a:rPr>
              <a:t>before </a:t>
            </a:r>
            <a:r>
              <a:rPr b="0" sz="1450">
                <a:solidFill>
                  <a:srgbClr val="0C0C0E"/>
                </a:solidFill>
                <a:latin typeface="Arial"/>
              </a:rPr>
              <a:t>each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visit</a:t>
            </a:r>
          </a:p>
          <a:p>
            <a:pPr marL="215900" indent="-215900">
              <a:lnSpc>
                <a:spcPts val="2000"/>
              </a:lnSpc>
              <a:spcBef>
                <a:spcPts val="14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A </a:t>
            </a:r>
            <a:r>
              <a:rPr b="1" sz="1450">
                <a:solidFill>
                  <a:srgbClr val="0C0C0E"/>
                </a:solidFill>
                <a:latin typeface="Arial"/>
              </a:rPr>
              <a:t>daily </a:t>
            </a:r>
            <a:r>
              <a:rPr b="1" sz="1450">
                <a:solidFill>
                  <a:srgbClr val="0C0C0E"/>
                </a:solidFill>
                <a:latin typeface="Arial"/>
              </a:rPr>
              <a:t>habit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30-day </a:t>
            </a:r>
            <a:r>
              <a:rPr b="0" sz="1450">
                <a:solidFill>
                  <a:srgbClr val="0C0C0E"/>
                </a:solidFill>
                <a:latin typeface="Arial"/>
              </a:rPr>
              <a:t>check-in </a:t>
            </a:r>
            <a:r>
              <a:rPr b="0" sz="1450">
                <a:solidFill>
                  <a:srgbClr val="0C0C0E"/>
                </a:solidFill>
                <a:latin typeface="Arial"/>
              </a:rPr>
              <a:t>calendar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Journal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5850" y="660400"/>
            <a:ext cx="5835650" cy="2514600"/>
          </a:xfrm>
          <a:prstGeom prst="roundRect">
            <a:avLst>
              <a:gd name="adj" fmla="val 7575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9050" y="711200"/>
            <a:ext cx="54292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Our growth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750" y="1130300"/>
            <a:ext cx="5657850" cy="19558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850" y="1270000"/>
            <a:ext cx="5327650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1. </a:t>
            </a:r>
            <a:r>
              <a:rPr b="0" sz="1450">
                <a:solidFill>
                  <a:srgbClr val="0C0C0E"/>
                </a:solidFill>
                <a:latin typeface="Arial"/>
              </a:rPr>
              <a:t>Patient </a:t>
            </a:r>
            <a:r>
              <a:rPr b="0" sz="1450">
                <a:solidFill>
                  <a:srgbClr val="0C0C0E"/>
                </a:solidFill>
                <a:latin typeface="Arial"/>
              </a:rPr>
              <a:t>invites </a:t>
            </a:r>
            <a:r>
              <a:rPr b="0" sz="1450">
                <a:solidFill>
                  <a:srgbClr val="0C0C0E"/>
                </a:solidFill>
                <a:latin typeface="Arial"/>
              </a:rPr>
              <a:t>her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by </a:t>
            </a:r>
            <a:r>
              <a:rPr b="0" sz="1450">
                <a:solidFill>
                  <a:srgbClr val="0C0C0E"/>
                </a:solidFill>
                <a:latin typeface="Arial"/>
              </a:rPr>
              <a:t>email</a:t>
            </a:r>
          </a:p>
          <a:p>
            <a:pPr marL="0" indent="0">
              <a:lnSpc>
                <a:spcPts val="2000"/>
              </a:lnSpc>
              <a:spcBef>
                <a:spcPts val="130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2.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saves </a:t>
            </a:r>
            <a:r>
              <a:rPr b="0" sz="1450">
                <a:solidFill>
                  <a:srgbClr val="0C0C0E"/>
                </a:solidFill>
                <a:latin typeface="Arial"/>
              </a:rPr>
              <a:t>time </a:t>
            </a:r>
            <a:r>
              <a:rPr b="0" sz="1450">
                <a:solidFill>
                  <a:srgbClr val="0C0C0E"/>
                </a:solidFill>
                <a:latin typeface="Arial"/>
              </a:rPr>
              <a:t>with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one-page </a:t>
            </a:r>
            <a:r>
              <a:rPr b="0" sz="1450">
                <a:solidFill>
                  <a:srgbClr val="0C0C0E"/>
                </a:solidFill>
                <a:latin typeface="Arial"/>
              </a:rPr>
              <a:t>summary</a:t>
            </a:r>
          </a:p>
          <a:p>
            <a:pPr marL="0" indent="0">
              <a:lnSpc>
                <a:spcPts val="2000"/>
              </a:lnSpc>
              <a:spcBef>
                <a:spcPts val="130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3.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suggests </a:t>
            </a:r>
            <a:r>
              <a:rPr b="0" sz="1450">
                <a:solidFill>
                  <a:srgbClr val="0C0C0E"/>
                </a:solidFill>
                <a:latin typeface="Arial"/>
              </a:rPr>
              <a:t>Pulse </a:t>
            </a:r>
            <a:r>
              <a:rPr b="0" sz="1450">
                <a:solidFill>
                  <a:srgbClr val="0C0C0E"/>
                </a:solidFill>
                <a:latin typeface="Arial"/>
              </a:rPr>
              <a:t>to </a:t>
            </a:r>
            <a:r>
              <a:rPr b="0" sz="1450">
                <a:solidFill>
                  <a:srgbClr val="0C0C0E"/>
                </a:solidFill>
                <a:latin typeface="Arial"/>
              </a:rPr>
              <a:t>other </a:t>
            </a:r>
            <a:r>
              <a:rPr b="0" sz="1450">
                <a:solidFill>
                  <a:srgbClr val="0C0C0E"/>
                </a:solidFill>
                <a:latin typeface="Arial"/>
              </a:rPr>
              <a:t>PCOS </a:t>
            </a:r>
            <a:r>
              <a:rPr b="0" sz="1450">
                <a:solidFill>
                  <a:srgbClr val="0C0C0E"/>
                </a:solidFill>
                <a:latin typeface="Arial"/>
              </a:rPr>
              <a:t>patients</a:t>
            </a:r>
          </a:p>
          <a:p>
            <a:pPr marL="0" indent="0">
              <a:lnSpc>
                <a:spcPts val="2000"/>
              </a:lnSpc>
              <a:spcBef>
                <a:spcPts val="130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Private </a:t>
            </a:r>
            <a:r>
              <a:rPr b="1" sz="1450">
                <a:solidFill>
                  <a:srgbClr val="0C0C0E"/>
                </a:solidFill>
                <a:latin typeface="Arial"/>
              </a:rPr>
              <a:t>by </a:t>
            </a:r>
            <a:r>
              <a:rPr b="1" sz="1450">
                <a:solidFill>
                  <a:srgbClr val="0C0C0E"/>
                </a:solidFill>
                <a:latin typeface="Arial"/>
              </a:rPr>
              <a:t>design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no </a:t>
            </a:r>
            <a:r>
              <a:rPr b="0" sz="1450">
                <a:solidFill>
                  <a:srgbClr val="0C0C0E"/>
                </a:solidFill>
                <a:latin typeface="Arial"/>
              </a:rPr>
              <a:t>feeds, </a:t>
            </a:r>
            <a:r>
              <a:rPr b="0" sz="1450">
                <a:solidFill>
                  <a:srgbClr val="0C0C0E"/>
                </a:solidFill>
                <a:latin typeface="Arial"/>
              </a:rPr>
              <a:t>no </a:t>
            </a:r>
            <a:r>
              <a:rPr b="0" sz="1450">
                <a:solidFill>
                  <a:srgbClr val="0C0C0E"/>
                </a:solidFill>
                <a:latin typeface="Arial"/>
              </a:rPr>
              <a:t>public </a:t>
            </a:r>
            <a:r>
              <a:rPr b="0" sz="1450">
                <a:solidFill>
                  <a:srgbClr val="0C0C0E"/>
                </a:solidFill>
                <a:latin typeface="Arial"/>
              </a:rPr>
              <a:t>sharing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5850" y="3314700"/>
            <a:ext cx="5835650" cy="3111500"/>
          </a:xfrm>
          <a:prstGeom prst="roundRect">
            <a:avLst>
              <a:gd name="adj" fmla="val 6122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9050" y="3365500"/>
            <a:ext cx="54292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Unit economics (assumptions)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750" y="3784600"/>
            <a:ext cx="5657850" cy="2552700"/>
          </a:xfrm>
          <a:prstGeom prst="roundRect">
            <a:avLst>
              <a:gd name="adj" fmla="val 5472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850" y="3924300"/>
            <a:ext cx="5327650" cy="2273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215900" indent="-215900">
              <a:lnSpc>
                <a:spcPts val="2000"/>
              </a:lnSpc>
              <a:spcBef>
                <a:spcPts val="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Revenue </a:t>
            </a:r>
            <a:r>
              <a:rPr b="1" sz="1450">
                <a:solidFill>
                  <a:srgbClr val="0C0C0E"/>
                </a:solidFill>
                <a:latin typeface="Arial"/>
              </a:rPr>
              <a:t>per </a:t>
            </a:r>
            <a:r>
              <a:rPr b="1" sz="1450">
                <a:solidFill>
                  <a:srgbClr val="0C0C0E"/>
                </a:solidFill>
                <a:latin typeface="Arial"/>
              </a:rPr>
              <a:t>user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₹399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month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Costs </a:t>
            </a:r>
            <a:r>
              <a:rPr b="1" sz="1450">
                <a:solidFill>
                  <a:srgbClr val="0C0C0E"/>
                </a:solidFill>
                <a:latin typeface="Arial"/>
              </a:rPr>
              <a:t>per </a:t>
            </a:r>
            <a:r>
              <a:rPr b="1" sz="1450">
                <a:solidFill>
                  <a:srgbClr val="0C0C0E"/>
                </a:solidFill>
                <a:latin typeface="Arial"/>
              </a:rPr>
              <a:t>user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payment </a:t>
            </a:r>
            <a:r>
              <a:rPr b="0" sz="1450">
                <a:solidFill>
                  <a:srgbClr val="0C0C0E"/>
                </a:solidFill>
                <a:latin typeface="Arial"/>
              </a:rPr>
              <a:t>fees, </a:t>
            </a:r>
            <a:r>
              <a:rPr b="0" sz="1450">
                <a:solidFill>
                  <a:srgbClr val="0C0C0E"/>
                </a:solidFill>
                <a:latin typeface="Arial"/>
              </a:rPr>
              <a:t>AI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hosting, </a:t>
            </a:r>
            <a:r>
              <a:rPr b="0" sz="1450">
                <a:solidFill>
                  <a:srgbClr val="0C0C0E"/>
                </a:solidFill>
                <a:latin typeface="Arial"/>
              </a:rPr>
              <a:t>measured </a:t>
            </a:r>
            <a:r>
              <a:rPr b="0" sz="1450">
                <a:solidFill>
                  <a:srgbClr val="0C0C0E"/>
                </a:solidFill>
                <a:latin typeface="Arial"/>
              </a:rPr>
              <a:t>in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pilot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LTV </a:t>
            </a:r>
            <a:r>
              <a:rPr b="0" sz="1450">
                <a:solidFill>
                  <a:srgbClr val="0C0C0E"/>
                </a:solidFill>
                <a:latin typeface="Arial"/>
              </a:rPr>
              <a:t>= </a:t>
            </a:r>
            <a:r>
              <a:rPr b="0" sz="1450">
                <a:solidFill>
                  <a:srgbClr val="0C0C0E"/>
                </a:solidFill>
                <a:latin typeface="Arial"/>
              </a:rPr>
              <a:t>monthly </a:t>
            </a:r>
            <a:r>
              <a:rPr b="0" sz="1450">
                <a:solidFill>
                  <a:srgbClr val="0C0C0E"/>
                </a:solidFill>
                <a:latin typeface="Arial"/>
              </a:rPr>
              <a:t>margin </a:t>
            </a:r>
            <a:r>
              <a:rPr b="0" sz="1450">
                <a:solidFill>
                  <a:srgbClr val="0C0C0E"/>
                </a:solidFill>
                <a:latin typeface="Arial"/>
              </a:rPr>
              <a:t>÷ </a:t>
            </a:r>
            <a:r>
              <a:rPr b="0" sz="1450">
                <a:solidFill>
                  <a:srgbClr val="0C0C0E"/>
                </a:solidFill>
                <a:latin typeface="Arial"/>
              </a:rPr>
              <a:t>monthly </a:t>
            </a:r>
            <a:r>
              <a:rPr b="0" sz="1450">
                <a:solidFill>
                  <a:srgbClr val="0C0C0E"/>
                </a:solidFill>
                <a:latin typeface="Arial"/>
              </a:rPr>
              <a:t>churn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Business </a:t>
            </a:r>
            <a:r>
              <a:rPr b="1" sz="1450">
                <a:solidFill>
                  <a:srgbClr val="0C0C0E"/>
                </a:solidFill>
                <a:latin typeface="Arial"/>
              </a:rPr>
              <a:t>metric: </a:t>
            </a:r>
            <a:r>
              <a:rPr b="0" sz="1450">
                <a:solidFill>
                  <a:srgbClr val="0C0C0E"/>
                </a:solidFill>
                <a:latin typeface="Arial"/>
              </a:rPr>
              <a:t>paid </a:t>
            </a:r>
            <a:r>
              <a:rPr b="0" sz="1450">
                <a:solidFill>
                  <a:srgbClr val="0C0C0E"/>
                </a:solidFill>
                <a:latin typeface="Arial"/>
              </a:rPr>
              <a:t>retention </a:t>
            </a:r>
            <a:r>
              <a:rPr b="0" sz="1450">
                <a:solidFill>
                  <a:srgbClr val="0C0C0E"/>
                </a:solidFill>
                <a:latin typeface="Arial"/>
              </a:rPr>
              <a:t>at </a:t>
            </a:r>
            <a:r>
              <a:rPr b="0" sz="1450">
                <a:solidFill>
                  <a:srgbClr val="0C0C0E"/>
                </a:solidFill>
                <a:latin typeface="Arial"/>
              </a:rPr>
              <a:t>month </a:t>
            </a:r>
            <a:r>
              <a:rPr b="0" sz="1450">
                <a:solidFill>
                  <a:srgbClr val="0C0C0E"/>
                </a:solidFill>
                <a:latin typeface="Arial"/>
              </a:rPr>
              <a:t>3</a:t>
            </a:r>
          </a:p>
          <a:p>
            <a:pPr marL="215900" indent="-215900">
              <a:lnSpc>
                <a:spcPts val="2000"/>
              </a:lnSpc>
              <a:spcBef>
                <a:spcPts val="11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All </a:t>
            </a:r>
            <a:r>
              <a:rPr b="1" sz="1450">
                <a:solidFill>
                  <a:srgbClr val="0C0C0E"/>
                </a:solidFill>
                <a:latin typeface="Arial"/>
              </a:rPr>
              <a:t>figures </a:t>
            </a:r>
            <a:r>
              <a:rPr b="1" sz="1450">
                <a:solidFill>
                  <a:srgbClr val="0C0C0E"/>
                </a:solidFill>
                <a:latin typeface="Arial"/>
              </a:rPr>
              <a:t>are </a:t>
            </a:r>
            <a:r>
              <a:rPr b="1" sz="1450">
                <a:solidFill>
                  <a:srgbClr val="0C0C0E"/>
                </a:solidFill>
                <a:latin typeface="Arial"/>
              </a:rPr>
              <a:t>assumptions </a:t>
            </a:r>
            <a:r>
              <a:rPr b="0" sz="1450">
                <a:solidFill>
                  <a:srgbClr val="0C0C0E"/>
                </a:solidFill>
                <a:latin typeface="Arial"/>
              </a:rPr>
              <a:t>to </a:t>
            </a:r>
            <a:r>
              <a:rPr b="0" sz="1450">
                <a:solidFill>
                  <a:srgbClr val="0C0C0E"/>
                </a:solidFill>
                <a:latin typeface="Arial"/>
              </a:rPr>
              <a:t>be </a:t>
            </a:r>
            <a:r>
              <a:rPr b="0" sz="1450">
                <a:solidFill>
                  <a:srgbClr val="0C0C0E"/>
                </a:solidFill>
                <a:latin typeface="Arial"/>
              </a:rPr>
              <a:t>tested, </a:t>
            </a:r>
            <a:r>
              <a:rPr b="0" sz="1450">
                <a:solidFill>
                  <a:srgbClr val="0C0C0E"/>
                </a:solidFill>
                <a:latin typeface="Arial"/>
              </a:rPr>
              <a:t>not </a:t>
            </a:r>
            <a:r>
              <a:rPr b="0" sz="1450">
                <a:solidFill>
                  <a:srgbClr val="0C0C0E"/>
                </a:solidFill>
                <a:latin typeface="Arial"/>
              </a:rPr>
              <a:t>claimed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900"/>
            <a:ext cx="12192000" cy="292100"/>
          </a:xfrm>
          <a:prstGeom prst="rect">
            <a:avLst/>
          </a:prstGeom>
          <a:solidFill>
            <a:srgbClr val="0B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