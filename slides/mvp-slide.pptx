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41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034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227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20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Business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613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Metrics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0650" y="114300"/>
            <a:ext cx="1720850" cy="368300"/>
          </a:xfrm>
          <a:prstGeom prst="roundRect">
            <a:avLst>
              <a:gd name="adj" fmla="val 50000"/>
            </a:avLst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150" y="660400"/>
            <a:ext cx="5365750" cy="5765800"/>
          </a:xfrm>
          <a:prstGeom prst="roundRect">
            <a:avLst>
              <a:gd name="adj" fmla="val 3550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350" y="711200"/>
            <a:ext cx="495935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2000">
                <a:solidFill>
                  <a:srgbClr val="0C0C0E"/>
                </a:solidFill>
                <a:latin typeface="Arial"/>
              </a:rPr>
              <a:t>What our MVP does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050" y="1130300"/>
            <a:ext cx="5187950" cy="52070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150" y="1270000"/>
            <a:ext cx="4857750" cy="492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215900" indent="-215900">
              <a:lnSpc>
                <a:spcPts val="2000"/>
              </a:lnSpc>
              <a:spcBef>
                <a:spcPts val="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Consent </a:t>
            </a:r>
            <a:r>
              <a:rPr b="1" sz="1450">
                <a:solidFill>
                  <a:srgbClr val="0C0C0E"/>
                </a:solidFill>
                <a:latin typeface="Arial"/>
              </a:rPr>
              <a:t>first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a </a:t>
            </a:r>
            <a:r>
              <a:rPr b="0" sz="1450">
                <a:solidFill>
                  <a:srgbClr val="0C0C0E"/>
                </a:solidFill>
                <a:latin typeface="Arial"/>
              </a:rPr>
              <a:t>separate </a:t>
            </a:r>
            <a:r>
              <a:rPr b="0" sz="1450">
                <a:solidFill>
                  <a:srgbClr val="0C0C0E"/>
                </a:solidFill>
                <a:latin typeface="Arial"/>
              </a:rPr>
              <a:t>opt-in </a:t>
            </a:r>
            <a:r>
              <a:rPr b="0" sz="1450">
                <a:solidFill>
                  <a:srgbClr val="0C0C0E"/>
                </a:solidFill>
                <a:latin typeface="Arial"/>
              </a:rPr>
              <a:t>for </a:t>
            </a:r>
            <a:r>
              <a:rPr b="0" sz="1450">
                <a:solidFill>
                  <a:srgbClr val="0C0C0E"/>
                </a:solidFill>
                <a:latin typeface="Arial"/>
              </a:rPr>
              <a:t>each </a:t>
            </a:r>
            <a:r>
              <a:rPr b="0" sz="1450">
                <a:solidFill>
                  <a:srgbClr val="0C0C0E"/>
                </a:solidFill>
                <a:latin typeface="Arial"/>
              </a:rPr>
              <a:t>kind </a:t>
            </a:r>
            <a:r>
              <a:rPr b="0" sz="1450">
                <a:solidFill>
                  <a:srgbClr val="0C0C0E"/>
                </a:solidFill>
                <a:latin typeface="Arial"/>
              </a:rPr>
              <a:t>of </a:t>
            </a:r>
            <a:r>
              <a:rPr b="0" sz="1450">
                <a:solidFill>
                  <a:srgbClr val="0C0C0E"/>
                </a:solidFill>
                <a:latin typeface="Arial"/>
              </a:rPr>
              <a:t>data;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withdraw </a:t>
            </a:r>
            <a:r>
              <a:rPr b="0" sz="1450">
                <a:solidFill>
                  <a:srgbClr val="0C0C0E"/>
                </a:solidFill>
                <a:latin typeface="Arial"/>
              </a:rPr>
              <a:t>or </a:t>
            </a:r>
            <a:r>
              <a:rPr b="0" sz="1450">
                <a:solidFill>
                  <a:srgbClr val="0C0C0E"/>
                </a:solidFill>
                <a:latin typeface="Arial"/>
              </a:rPr>
              <a:t>delete </a:t>
            </a:r>
            <a:r>
              <a:rPr b="0" sz="1450">
                <a:solidFill>
                  <a:srgbClr val="0C0C0E"/>
                </a:solidFill>
                <a:latin typeface="Arial"/>
              </a:rPr>
              <a:t>any </a:t>
            </a:r>
            <a:r>
              <a:rPr b="0" sz="1450">
                <a:solidFill>
                  <a:srgbClr val="0C0C0E"/>
                </a:solidFill>
                <a:latin typeface="Arial"/>
              </a:rPr>
              <a:t>time</a:t>
            </a:r>
          </a:p>
          <a:p>
            <a:pPr marL="215900" indent="-215900">
              <a:lnSpc>
                <a:spcPts val="2000"/>
              </a:lnSpc>
              <a:spcBef>
                <a:spcPts val="18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Day-1 </a:t>
            </a:r>
            <a:r>
              <a:rPr b="1" sz="1450">
                <a:solidFill>
                  <a:srgbClr val="0C0C0E"/>
                </a:solidFill>
                <a:latin typeface="Arial"/>
              </a:rPr>
              <a:t>baseline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PHQ-9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GAD-7 </a:t>
            </a:r>
            <a:r>
              <a:rPr b="0" sz="1450">
                <a:solidFill>
                  <a:srgbClr val="0C0C0E"/>
                </a:solidFill>
                <a:latin typeface="Arial"/>
              </a:rPr>
              <a:t>check-in, </a:t>
            </a:r>
            <a:r>
              <a:rPr b="0" sz="1450">
                <a:solidFill>
                  <a:srgbClr val="0C0C0E"/>
                </a:solidFill>
                <a:latin typeface="Arial"/>
              </a:rPr>
              <a:t>with </a:t>
            </a:r>
            <a:r>
              <a:rPr b="0" sz="1450">
                <a:solidFill>
                  <a:srgbClr val="0C0C0E"/>
                </a:solidFill>
                <a:latin typeface="Arial"/>
              </a:rPr>
              <a:t>a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safety </a:t>
            </a:r>
            <a:r>
              <a:rPr b="0" sz="1450">
                <a:solidFill>
                  <a:srgbClr val="0C0C0E"/>
                </a:solidFill>
                <a:latin typeface="Arial"/>
              </a:rPr>
              <a:t>stop</a:t>
            </a:r>
          </a:p>
          <a:p>
            <a:pPr marL="215900" indent="-215900">
              <a:lnSpc>
                <a:spcPts val="2000"/>
              </a:lnSpc>
              <a:spcBef>
                <a:spcPts val="18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Daily </a:t>
            </a:r>
            <a:r>
              <a:rPr b="1" sz="1450">
                <a:solidFill>
                  <a:srgbClr val="0C0C0E"/>
                </a:solidFill>
                <a:latin typeface="Arial"/>
              </a:rPr>
              <a:t>tracking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mood, </a:t>
            </a:r>
            <a:r>
              <a:rPr b="0" sz="1450">
                <a:solidFill>
                  <a:srgbClr val="0C0C0E"/>
                </a:solidFill>
                <a:latin typeface="Arial"/>
              </a:rPr>
              <a:t>sleep, </a:t>
            </a:r>
            <a:r>
              <a:rPr b="0" sz="1450">
                <a:solidFill>
                  <a:srgbClr val="0C0C0E"/>
                </a:solidFill>
                <a:latin typeface="Arial"/>
              </a:rPr>
              <a:t>steps, </a:t>
            </a:r>
            <a:r>
              <a:rPr b="0" sz="1450">
                <a:solidFill>
                  <a:srgbClr val="0C0C0E"/>
                </a:solidFill>
                <a:latin typeface="Arial"/>
              </a:rPr>
              <a:t>cycle, </a:t>
            </a:r>
            <a:r>
              <a:rPr b="0" sz="1450">
                <a:solidFill>
                  <a:srgbClr val="0C0C0E"/>
                </a:solidFill>
                <a:latin typeface="Arial"/>
              </a:rPr>
              <a:t>symptoms,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meals, </a:t>
            </a:r>
            <a:r>
              <a:rPr b="0" sz="1450">
                <a:solidFill>
                  <a:srgbClr val="0C0C0E"/>
                </a:solidFill>
                <a:latin typeface="Arial"/>
              </a:rPr>
              <a:t>medicines</a:t>
            </a:r>
          </a:p>
          <a:p>
            <a:pPr marL="215900" indent="-215900">
              <a:lnSpc>
                <a:spcPts val="2000"/>
              </a:lnSpc>
              <a:spcBef>
                <a:spcPts val="18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Health </a:t>
            </a:r>
            <a:r>
              <a:rPr b="1" sz="1450">
                <a:solidFill>
                  <a:srgbClr val="0C0C0E"/>
                </a:solidFill>
                <a:latin typeface="Arial"/>
              </a:rPr>
              <a:t>Factor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one </a:t>
            </a:r>
            <a:r>
              <a:rPr b="0" sz="1450">
                <a:solidFill>
                  <a:srgbClr val="0C0C0E"/>
                </a:solidFill>
                <a:latin typeface="Arial"/>
              </a:rPr>
              <a:t>0–100 </a:t>
            </a:r>
            <a:r>
              <a:rPr b="0" sz="1450">
                <a:solidFill>
                  <a:srgbClr val="0C0C0E"/>
                </a:solidFill>
                <a:latin typeface="Arial"/>
              </a:rPr>
              <a:t>score </a:t>
            </a:r>
            <a:r>
              <a:rPr b="0" sz="1450">
                <a:solidFill>
                  <a:srgbClr val="0C0C0E"/>
                </a:solidFill>
                <a:latin typeface="Arial"/>
              </a:rPr>
              <a:t>for </a:t>
            </a:r>
            <a:r>
              <a:rPr b="0" sz="1450">
                <a:solidFill>
                  <a:srgbClr val="0C0C0E"/>
                </a:solidFill>
                <a:latin typeface="Arial"/>
              </a:rPr>
              <a:t>body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mind,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with </a:t>
            </a:r>
            <a:r>
              <a:rPr b="0" sz="1450">
                <a:solidFill>
                  <a:srgbClr val="0C0C0E"/>
                </a:solidFill>
                <a:latin typeface="Arial"/>
              </a:rPr>
              <a:t>3-week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90-day </a:t>
            </a:r>
            <a:r>
              <a:rPr b="0" sz="1450">
                <a:solidFill>
                  <a:srgbClr val="0C0C0E"/>
                </a:solidFill>
                <a:latin typeface="Arial"/>
              </a:rPr>
              <a:t>trends</a:t>
            </a:r>
          </a:p>
          <a:p>
            <a:pPr marL="215900" indent="-215900">
              <a:lnSpc>
                <a:spcPts val="2000"/>
              </a:lnSpc>
              <a:spcBef>
                <a:spcPts val="18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AI </a:t>
            </a:r>
            <a:r>
              <a:rPr b="1" sz="1450">
                <a:solidFill>
                  <a:srgbClr val="0C0C0E"/>
                </a:solidFill>
                <a:latin typeface="Arial"/>
              </a:rPr>
              <a:t>Journal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only </a:t>
            </a:r>
            <a:r>
              <a:rPr b="0" sz="1450">
                <a:solidFill>
                  <a:srgbClr val="0C0C0E"/>
                </a:solidFill>
                <a:latin typeface="Arial"/>
              </a:rPr>
              <a:t>asks </a:t>
            </a:r>
            <a:r>
              <a:rPr b="0" sz="1450">
                <a:solidFill>
                  <a:srgbClr val="0C0C0E"/>
                </a:solidFill>
                <a:latin typeface="Arial"/>
              </a:rPr>
              <a:t>questions, </a:t>
            </a:r>
            <a:r>
              <a:rPr b="0" sz="1450">
                <a:solidFill>
                  <a:srgbClr val="0C0C0E"/>
                </a:solidFill>
                <a:latin typeface="Arial"/>
              </a:rPr>
              <a:t>never </a:t>
            </a:r>
            <a:r>
              <a:rPr b="0" sz="1450">
                <a:solidFill>
                  <a:srgbClr val="0C0C0E"/>
                </a:solidFill>
                <a:latin typeface="Arial"/>
              </a:rPr>
              <a:t>advises; </a:t>
            </a:r>
            <a:r>
              <a:rPr b="0" sz="1450">
                <a:solidFill>
                  <a:srgbClr val="0C0C0E"/>
                </a:solidFill>
                <a:latin typeface="Arial"/>
              </a:rPr>
              <a:t>a </a:t>
            </a:r>
            <a:r>
              <a:rPr b="0" sz="1450">
                <a:solidFill>
                  <a:srgbClr val="0C0C0E"/>
                </a:solidFill>
                <a:latin typeface="Arial"/>
              </a:rPr>
              <a:t>very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low </a:t>
            </a:r>
            <a:r>
              <a:rPr b="0" sz="1450">
                <a:solidFill>
                  <a:srgbClr val="0C0C0E"/>
                </a:solidFill>
                <a:latin typeface="Arial"/>
              </a:rPr>
              <a:t>score </a:t>
            </a:r>
            <a:r>
              <a:rPr b="0" sz="1450">
                <a:solidFill>
                  <a:srgbClr val="0C0C0E"/>
                </a:solidFill>
                <a:latin typeface="Arial"/>
              </a:rPr>
              <a:t>alerts </a:t>
            </a:r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people </a:t>
            </a:r>
            <a:r>
              <a:rPr b="0" sz="1450">
                <a:solidFill>
                  <a:srgbClr val="0C0C0E"/>
                </a:solidFill>
                <a:latin typeface="Arial"/>
              </a:rPr>
              <a:t>you </a:t>
            </a:r>
            <a:r>
              <a:rPr b="0" sz="1450">
                <a:solidFill>
                  <a:srgbClr val="0C0C0E"/>
                </a:solidFill>
                <a:latin typeface="Arial"/>
              </a:rPr>
              <a:t>chose</a:t>
            </a:r>
          </a:p>
          <a:p>
            <a:pPr marL="215900" indent="-215900">
              <a:lnSpc>
                <a:spcPts val="2000"/>
              </a:lnSpc>
              <a:spcBef>
                <a:spcPts val="18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Doctor </a:t>
            </a:r>
            <a:r>
              <a:rPr b="1" sz="1450">
                <a:solidFill>
                  <a:srgbClr val="0C0C0E"/>
                </a:solidFill>
                <a:latin typeface="Arial"/>
              </a:rPr>
              <a:t>link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book </a:t>
            </a:r>
            <a:r>
              <a:rPr b="0" sz="1450">
                <a:solidFill>
                  <a:srgbClr val="0C0C0E"/>
                </a:solidFill>
                <a:latin typeface="Arial"/>
              </a:rPr>
              <a:t>in </a:t>
            </a:r>
            <a:r>
              <a:rPr b="0" sz="1450">
                <a:solidFill>
                  <a:srgbClr val="0C0C0E"/>
                </a:solidFill>
                <a:latin typeface="Arial"/>
              </a:rPr>
              <a:t>Bengaluru, </a:t>
            </a:r>
            <a:r>
              <a:rPr b="0" sz="1450">
                <a:solidFill>
                  <a:srgbClr val="0C0C0E"/>
                </a:solidFill>
                <a:latin typeface="Arial"/>
              </a:rPr>
              <a:t>share </a:t>
            </a:r>
            <a:r>
              <a:rPr b="0" sz="1450">
                <a:solidFill>
                  <a:srgbClr val="0C0C0E"/>
                </a:solidFill>
                <a:latin typeface="Arial"/>
              </a:rPr>
              <a:t>only </a:t>
            </a:r>
            <a:r>
              <a:rPr b="0" sz="1450">
                <a:solidFill>
                  <a:srgbClr val="0C0C0E"/>
                </a:solidFill>
                <a:latin typeface="Arial"/>
              </a:rPr>
              <a:t>what </a:t>
            </a:r>
            <a:r>
              <a:rPr b="0" sz="1450">
                <a:solidFill>
                  <a:srgbClr val="0C0C0E"/>
                </a:solidFill>
                <a:latin typeface="Arial"/>
              </a:rPr>
              <a:t>you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choose, </a:t>
            </a:r>
            <a:r>
              <a:rPr b="0" sz="1450">
                <a:solidFill>
                  <a:srgbClr val="0C0C0E"/>
                </a:solidFill>
                <a:latin typeface="Arial"/>
              </a:rPr>
              <a:t>one-page </a:t>
            </a:r>
            <a:r>
              <a:rPr b="0" sz="1450">
                <a:solidFill>
                  <a:srgbClr val="0C0C0E"/>
                </a:solidFill>
                <a:latin typeface="Arial"/>
              </a:rPr>
              <a:t>pre-visit </a:t>
            </a:r>
            <a:r>
              <a:rPr b="0" sz="1450">
                <a:solidFill>
                  <a:srgbClr val="0C0C0E"/>
                </a:solidFill>
                <a:latin typeface="Arial"/>
              </a:rPr>
              <a:t>summary</a:t>
            </a:r>
          </a:p>
          <a:p>
            <a:pPr marL="215900" indent="-215900">
              <a:lnSpc>
                <a:spcPts val="2000"/>
              </a:lnSpc>
              <a:spcBef>
                <a:spcPts val="18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Safety </a:t>
            </a:r>
            <a:r>
              <a:rPr b="1" sz="1450">
                <a:solidFill>
                  <a:srgbClr val="0C0C0E"/>
                </a:solidFill>
                <a:latin typeface="Arial"/>
              </a:rPr>
              <a:t>net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Tele-MANAS </a:t>
            </a:r>
            <a:r>
              <a:rPr b="0" sz="1450">
                <a:solidFill>
                  <a:srgbClr val="0C0C0E"/>
                </a:solidFill>
                <a:latin typeface="Arial"/>
              </a:rPr>
              <a:t>14416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112, </a:t>
            </a:r>
            <a:r>
              <a:rPr b="0" sz="1450">
                <a:solidFill>
                  <a:srgbClr val="0C0C0E"/>
                </a:solidFill>
                <a:latin typeface="Arial"/>
              </a:rPr>
              <a:t>one </a:t>
            </a:r>
            <a:r>
              <a:rPr b="0" sz="1450">
                <a:solidFill>
                  <a:srgbClr val="0C0C0E"/>
                </a:solidFill>
                <a:latin typeface="Arial"/>
              </a:rPr>
              <a:t>tap </a:t>
            </a:r>
            <a:r>
              <a:rPr b="0" sz="1450">
                <a:solidFill>
                  <a:srgbClr val="0C0C0E"/>
                </a:solidFill>
                <a:latin typeface="Arial"/>
              </a:rPr>
              <a:t>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2950" y="660400"/>
            <a:ext cx="6184900" cy="3105150"/>
          </a:xfrm>
          <a:prstGeom prst="roundRect">
            <a:avLst>
              <a:gd name="adj" fmla="val 6134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26150" y="711200"/>
            <a:ext cx="577850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2000">
                <a:solidFill>
                  <a:srgbClr val="0C0C0E"/>
                </a:solidFill>
                <a:latin typeface="Arial"/>
              </a:rPr>
              <a:t>What we deliberately left 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11850" y="1130300"/>
            <a:ext cx="6007100" cy="2546350"/>
          </a:xfrm>
          <a:prstGeom prst="roundRect">
            <a:avLst>
              <a:gd name="adj" fmla="val 5486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6950" y="1270000"/>
            <a:ext cx="5676900" cy="2266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215900" indent="-215900">
              <a:lnSpc>
                <a:spcPts val="2000"/>
              </a:lnSpc>
              <a:spcBef>
                <a:spcPts val="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No </a:t>
            </a:r>
            <a:r>
              <a:rPr b="1" sz="1450">
                <a:solidFill>
                  <a:srgbClr val="0C0C0E"/>
                </a:solidFill>
                <a:latin typeface="Arial"/>
              </a:rPr>
              <a:t>diagnosis </a:t>
            </a:r>
            <a:r>
              <a:rPr b="1" sz="1450">
                <a:solidFill>
                  <a:srgbClr val="0C0C0E"/>
                </a:solidFill>
                <a:latin typeface="Arial"/>
              </a:rPr>
              <a:t>or </a:t>
            </a:r>
            <a:r>
              <a:rPr b="1" sz="1450">
                <a:solidFill>
                  <a:srgbClr val="0C0C0E"/>
                </a:solidFill>
                <a:latin typeface="Arial"/>
              </a:rPr>
              <a:t>advice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software </a:t>
            </a:r>
            <a:r>
              <a:rPr b="0" sz="1450">
                <a:solidFill>
                  <a:srgbClr val="0C0C0E"/>
                </a:solidFill>
                <a:latin typeface="Arial"/>
              </a:rPr>
              <a:t>informs, </a:t>
            </a:r>
            <a:r>
              <a:rPr b="0" sz="1450">
                <a:solidFill>
                  <a:srgbClr val="0C0C0E"/>
                </a:solidFill>
                <a:latin typeface="Arial"/>
              </a:rPr>
              <a:t>the </a:t>
            </a:r>
            <a:r>
              <a:rPr b="0" sz="1450">
                <a:solidFill>
                  <a:srgbClr val="0C0C0E"/>
                </a:solidFill>
                <a:latin typeface="Arial"/>
              </a:rPr>
              <a:t>doctor </a:t>
            </a:r>
            <a:r>
              <a:rPr b="0" sz="1450">
                <a:solidFill>
                  <a:srgbClr val="0C0C0E"/>
                </a:solidFill>
                <a:latin typeface="Arial"/>
              </a:rPr>
              <a:t>decides</a:t>
            </a:r>
          </a:p>
          <a:p>
            <a:pPr marL="215900" indent="-215900">
              <a:lnSpc>
                <a:spcPts val="2000"/>
              </a:lnSpc>
              <a:spcBef>
                <a:spcPts val="6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PCOS </a:t>
            </a:r>
            <a:r>
              <a:rPr b="1" sz="1450">
                <a:solidFill>
                  <a:srgbClr val="0C0C0E"/>
                </a:solidFill>
                <a:latin typeface="Arial"/>
              </a:rPr>
              <a:t>and </a:t>
            </a:r>
            <a:r>
              <a:rPr b="1" sz="1450">
                <a:solidFill>
                  <a:srgbClr val="0C0C0E"/>
                </a:solidFill>
                <a:latin typeface="Arial"/>
              </a:rPr>
              <a:t>stress </a:t>
            </a:r>
            <a:r>
              <a:rPr b="1" sz="1450">
                <a:solidFill>
                  <a:srgbClr val="0C0C0E"/>
                </a:solidFill>
                <a:latin typeface="Arial"/>
              </a:rPr>
              <a:t>only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other </a:t>
            </a:r>
            <a:r>
              <a:rPr b="0" sz="1450">
                <a:solidFill>
                  <a:srgbClr val="0C0C0E"/>
                </a:solidFill>
                <a:latin typeface="Arial"/>
              </a:rPr>
              <a:t>conditions </a:t>
            </a:r>
            <a:r>
              <a:rPr b="0" sz="1450">
                <a:solidFill>
                  <a:srgbClr val="0C0C0E"/>
                </a:solidFill>
                <a:latin typeface="Arial"/>
              </a:rPr>
              <a:t>are </a:t>
            </a:r>
            <a:r>
              <a:rPr b="0" sz="1450">
                <a:solidFill>
                  <a:srgbClr val="0C0C0E"/>
                </a:solidFill>
                <a:latin typeface="Arial"/>
              </a:rPr>
              <a:t>“coming </a:t>
            </a:r>
            <a:r>
              <a:rPr b="0" sz="1450">
                <a:solidFill>
                  <a:srgbClr val="0C0C0E"/>
                </a:solidFill>
                <a:latin typeface="Arial"/>
              </a:rPr>
              <a:t>soon”</a:t>
            </a:r>
          </a:p>
          <a:p>
            <a:pPr marL="215900" indent="-215900">
              <a:lnSpc>
                <a:spcPts val="2000"/>
              </a:lnSpc>
              <a:spcBef>
                <a:spcPts val="6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Bengaluru </a:t>
            </a:r>
            <a:r>
              <a:rPr b="1" sz="1450">
                <a:solidFill>
                  <a:srgbClr val="0C0C0E"/>
                </a:solidFill>
                <a:latin typeface="Arial"/>
              </a:rPr>
              <a:t>only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one </a:t>
            </a:r>
            <a:r>
              <a:rPr b="0" sz="1450">
                <a:solidFill>
                  <a:srgbClr val="0C0C0E"/>
                </a:solidFill>
                <a:latin typeface="Arial"/>
              </a:rPr>
              <a:t>launch </a:t>
            </a:r>
            <a:r>
              <a:rPr b="0" sz="1450">
                <a:solidFill>
                  <a:srgbClr val="0C0C0E"/>
                </a:solidFill>
                <a:latin typeface="Arial"/>
              </a:rPr>
              <a:t>city</a:t>
            </a:r>
          </a:p>
          <a:p>
            <a:pPr marL="215900" indent="-215900">
              <a:lnSpc>
                <a:spcPts val="2000"/>
              </a:lnSpc>
              <a:spcBef>
                <a:spcPts val="6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No </a:t>
            </a:r>
            <a:r>
              <a:rPr b="1" sz="1450">
                <a:solidFill>
                  <a:srgbClr val="0C0C0E"/>
                </a:solidFill>
                <a:latin typeface="Arial"/>
              </a:rPr>
              <a:t>calorie </a:t>
            </a:r>
            <a:r>
              <a:rPr b="1" sz="1450">
                <a:solidFill>
                  <a:srgbClr val="0C0C0E"/>
                </a:solidFill>
                <a:latin typeface="Arial"/>
              </a:rPr>
              <a:t>counting </a:t>
            </a:r>
            <a:r>
              <a:rPr b="1" sz="1450">
                <a:solidFill>
                  <a:srgbClr val="0C0C0E"/>
                </a:solidFill>
                <a:latin typeface="Arial"/>
              </a:rPr>
              <a:t>or </a:t>
            </a:r>
            <a:r>
              <a:rPr b="1" sz="1450">
                <a:solidFill>
                  <a:srgbClr val="0C0C0E"/>
                </a:solidFill>
                <a:latin typeface="Arial"/>
              </a:rPr>
              <a:t>food </a:t>
            </a:r>
            <a:r>
              <a:rPr b="1" sz="1450">
                <a:solidFill>
                  <a:srgbClr val="0C0C0E"/>
                </a:solidFill>
                <a:latin typeface="Arial"/>
              </a:rPr>
              <a:t>photos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“it </a:t>
            </a:r>
            <a:r>
              <a:rPr b="0" sz="1450">
                <a:solidFill>
                  <a:srgbClr val="0C0C0E"/>
                </a:solidFill>
                <a:latin typeface="Arial"/>
              </a:rPr>
              <a:t>felt </a:t>
            </a:r>
            <a:r>
              <a:rPr b="0" sz="1450">
                <a:solidFill>
                  <a:srgbClr val="0C0C0E"/>
                </a:solidFill>
                <a:latin typeface="Arial"/>
              </a:rPr>
              <a:t>like </a:t>
            </a:r>
            <a:r>
              <a:rPr b="0" sz="1450">
                <a:solidFill>
                  <a:srgbClr val="0C0C0E"/>
                </a:solidFill>
                <a:latin typeface="Arial"/>
              </a:rPr>
              <a:t>homework”</a:t>
            </a:r>
          </a:p>
          <a:p>
            <a:pPr marL="215900" indent="-215900">
              <a:lnSpc>
                <a:spcPts val="2000"/>
              </a:lnSpc>
              <a:spcBef>
                <a:spcPts val="6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No </a:t>
            </a:r>
            <a:r>
              <a:rPr b="1" sz="1450">
                <a:solidFill>
                  <a:srgbClr val="0C0C0E"/>
                </a:solidFill>
                <a:latin typeface="Arial"/>
              </a:rPr>
              <a:t>real </a:t>
            </a:r>
            <a:r>
              <a:rPr b="1" sz="1450">
                <a:solidFill>
                  <a:srgbClr val="0C0C0E"/>
                </a:solidFill>
                <a:latin typeface="Arial"/>
              </a:rPr>
              <a:t>payments, </a:t>
            </a:r>
            <a:r>
              <a:rPr b="1" sz="1450">
                <a:solidFill>
                  <a:srgbClr val="0C0C0E"/>
                </a:solidFill>
                <a:latin typeface="Arial"/>
              </a:rPr>
              <a:t>messages </a:t>
            </a:r>
            <a:r>
              <a:rPr b="1" sz="1450">
                <a:solidFill>
                  <a:srgbClr val="0C0C0E"/>
                </a:solidFill>
                <a:latin typeface="Arial"/>
              </a:rPr>
              <a:t>or </a:t>
            </a:r>
            <a:r>
              <a:rPr b="1" sz="1450">
                <a:solidFill>
                  <a:srgbClr val="0C0C0E"/>
                </a:solidFill>
                <a:latin typeface="Arial"/>
              </a:rPr>
              <a:t>watch </a:t>
            </a:r>
            <a:r>
              <a:rPr b="1" sz="1450">
                <a:solidFill>
                  <a:srgbClr val="0C0C0E"/>
                </a:solidFill>
                <a:latin typeface="Arial"/>
              </a:rPr>
              <a:t>sync </a:t>
            </a:r>
            <a:r>
              <a:rPr b="0" sz="1450">
                <a:solidFill>
                  <a:srgbClr val="0C0C0E"/>
                </a:solidFill>
                <a:latin typeface="Arial"/>
              </a:rPr>
              <a:t>– </a:t>
            </a:r>
            <a:r>
              <a:rPr b="0" sz="1450">
                <a:solidFill>
                  <a:srgbClr val="0C0C0E"/>
                </a:solidFill>
                <a:latin typeface="Arial"/>
              </a:rPr>
              <a:t>simulated </a:t>
            </a:r>
            <a:r>
              <a:rPr b="0" sz="1450">
                <a:solidFill>
                  <a:srgbClr val="0C0C0E"/>
                </a:solidFill>
                <a:latin typeface="Arial"/>
              </a:rPr>
              <a:t>in </a:t>
            </a:r>
            <a:r>
              <a:rPr b="0" sz="1450">
                <a:solidFill>
                  <a:srgbClr val="0C0C0E"/>
                </a:solidFill>
                <a:latin typeface="Arial"/>
              </a:rPr>
              <a:t>the</a:t>
            </a:r>
            <a:br/>
            <a:r>
              <a:rPr b="0" sz="1450">
                <a:solidFill>
                  <a:srgbClr val="0C0C0E"/>
                </a:solidFill>
                <a:latin typeface="Arial"/>
              </a:rPr>
              <a:t>demo</a:t>
            </a:r>
          </a:p>
          <a:p>
            <a:pPr marL="215900" indent="-215900">
              <a:lnSpc>
                <a:spcPts val="2000"/>
              </a:lnSpc>
              <a:spcBef>
                <a:spcPts val="650"/>
              </a:spcBef>
              <a:buChar char="•"/>
            </a:pPr>
            <a:r>
              <a:rPr b="1" sz="1450">
                <a:solidFill>
                  <a:srgbClr val="0C0C0E"/>
                </a:solidFill>
                <a:latin typeface="Arial"/>
              </a:rPr>
              <a:t>Next: </a:t>
            </a:r>
            <a:r>
              <a:rPr b="0" sz="1450">
                <a:solidFill>
                  <a:srgbClr val="0C0C0E"/>
                </a:solidFill>
                <a:latin typeface="Arial"/>
              </a:rPr>
              <a:t>doctor </a:t>
            </a:r>
            <a:r>
              <a:rPr b="0" sz="1450">
                <a:solidFill>
                  <a:srgbClr val="0C0C0E"/>
                </a:solidFill>
                <a:latin typeface="Arial"/>
              </a:rPr>
              <a:t>portal, </a:t>
            </a:r>
            <a:r>
              <a:rPr b="0" sz="1450">
                <a:solidFill>
                  <a:srgbClr val="0C0C0E"/>
                </a:solidFill>
                <a:latin typeface="Arial"/>
              </a:rPr>
              <a:t>family </a:t>
            </a:r>
            <a:r>
              <a:rPr b="0" sz="1450">
                <a:solidFill>
                  <a:srgbClr val="0C0C0E"/>
                </a:solidFill>
                <a:latin typeface="Arial"/>
              </a:rPr>
              <a:t>view, </a:t>
            </a:r>
            <a:r>
              <a:rPr b="0" sz="1450">
                <a:solidFill>
                  <a:srgbClr val="0C0C0E"/>
                </a:solidFill>
                <a:latin typeface="Arial"/>
              </a:rPr>
              <a:t>regional </a:t>
            </a:r>
            <a:r>
              <a:rPr b="0" sz="1450">
                <a:solidFill>
                  <a:srgbClr val="0C0C0E"/>
                </a:solidFill>
                <a:latin typeface="Arial"/>
              </a:rPr>
              <a:t>languages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22950" y="3905250"/>
            <a:ext cx="6184900" cy="2520950"/>
          </a:xfrm>
          <a:prstGeom prst="roundRect">
            <a:avLst>
              <a:gd name="adj" fmla="val 7556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6150" y="3956050"/>
            <a:ext cx="5778500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b="1" sz="2000">
                <a:solidFill>
                  <a:srgbClr val="0C0C0E"/>
                </a:solidFill>
                <a:latin typeface="Arial"/>
              </a:rPr>
              <a:t>The one journey we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1850" y="4375150"/>
            <a:ext cx="6007100" cy="1962150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 w="12700">
            <a:solidFill>
              <a:srgbClr val="C4D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6950" y="4514850"/>
            <a:ext cx="5676900" cy="1682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 indent="0">
              <a:lnSpc>
                <a:spcPts val="2000"/>
              </a:lnSpc>
              <a:spcBef>
                <a:spcPts val="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1. </a:t>
            </a:r>
            <a:r>
              <a:rPr b="0" sz="1450">
                <a:solidFill>
                  <a:srgbClr val="0C0C0E"/>
                </a:solidFill>
                <a:latin typeface="Arial"/>
              </a:rPr>
              <a:t>Register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give </a:t>
            </a:r>
            <a:r>
              <a:rPr b="0" sz="1450">
                <a:solidFill>
                  <a:srgbClr val="0C0C0E"/>
                </a:solidFill>
                <a:latin typeface="Arial"/>
              </a:rPr>
              <a:t>consent</a:t>
            </a:r>
          </a:p>
          <a:p>
            <a:pPr marL="0" indent="0">
              <a:lnSpc>
                <a:spcPts val="2000"/>
              </a:lnSpc>
              <a:spcBef>
                <a:spcPts val="65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2. </a:t>
            </a:r>
            <a:r>
              <a:rPr b="0" sz="1450">
                <a:solidFill>
                  <a:srgbClr val="0C0C0E"/>
                </a:solidFill>
                <a:latin typeface="Arial"/>
              </a:rPr>
              <a:t>Day-1 </a:t>
            </a:r>
            <a:r>
              <a:rPr b="0" sz="1450">
                <a:solidFill>
                  <a:srgbClr val="0C0C0E"/>
                </a:solidFill>
                <a:latin typeface="Arial"/>
              </a:rPr>
              <a:t>PHQ-9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GAD-7 </a:t>
            </a:r>
            <a:r>
              <a:rPr b="0" sz="1450">
                <a:solidFill>
                  <a:srgbClr val="0C0C0E"/>
                </a:solidFill>
                <a:latin typeface="Arial"/>
              </a:rPr>
              <a:t>baseline</a:t>
            </a:r>
          </a:p>
          <a:p>
            <a:pPr marL="0" indent="0">
              <a:lnSpc>
                <a:spcPts val="2000"/>
              </a:lnSpc>
              <a:spcBef>
                <a:spcPts val="65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3. </a:t>
            </a:r>
            <a:r>
              <a:rPr b="0" sz="1450">
                <a:solidFill>
                  <a:srgbClr val="0C0C0E"/>
                </a:solidFill>
                <a:latin typeface="Arial"/>
              </a:rPr>
              <a:t>Daily </a:t>
            </a:r>
            <a:r>
              <a:rPr b="0" sz="1450">
                <a:solidFill>
                  <a:srgbClr val="0C0C0E"/>
                </a:solidFill>
                <a:latin typeface="Arial"/>
              </a:rPr>
              <a:t>check-in </a:t>
            </a:r>
            <a:r>
              <a:rPr b="0" sz="1450">
                <a:solidFill>
                  <a:srgbClr val="0C0C0E"/>
                </a:solidFill>
                <a:latin typeface="Arial"/>
              </a:rPr>
              <a:t>and </a:t>
            </a:r>
            <a:r>
              <a:rPr b="0" sz="1450">
                <a:solidFill>
                  <a:srgbClr val="0C0C0E"/>
                </a:solidFill>
                <a:latin typeface="Arial"/>
              </a:rPr>
              <a:t>AI </a:t>
            </a:r>
            <a:r>
              <a:rPr b="0" sz="1450">
                <a:solidFill>
                  <a:srgbClr val="0C0C0E"/>
                </a:solidFill>
                <a:latin typeface="Arial"/>
              </a:rPr>
              <a:t>Journal</a:t>
            </a:r>
          </a:p>
          <a:p>
            <a:pPr marL="0" indent="0">
              <a:lnSpc>
                <a:spcPts val="2000"/>
              </a:lnSpc>
              <a:spcBef>
                <a:spcPts val="65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4. </a:t>
            </a:r>
            <a:r>
              <a:rPr b="0" sz="1450">
                <a:solidFill>
                  <a:srgbClr val="0C0C0E"/>
                </a:solidFill>
                <a:latin typeface="Arial"/>
              </a:rPr>
              <a:t>Health </a:t>
            </a:r>
            <a:r>
              <a:rPr b="0" sz="1450">
                <a:solidFill>
                  <a:srgbClr val="0C0C0E"/>
                </a:solidFill>
                <a:latin typeface="Arial"/>
              </a:rPr>
              <a:t>Factor </a:t>
            </a:r>
            <a:r>
              <a:rPr b="0" sz="1450">
                <a:solidFill>
                  <a:srgbClr val="0C0C0E"/>
                </a:solidFill>
                <a:latin typeface="Arial"/>
              </a:rPr>
              <a:t>moves </a:t>
            </a:r>
            <a:r>
              <a:rPr b="0" sz="1450">
                <a:solidFill>
                  <a:srgbClr val="0C0C0E"/>
                </a:solidFill>
                <a:latin typeface="Arial"/>
              </a:rPr>
              <a:t>over </a:t>
            </a:r>
            <a:r>
              <a:rPr b="0" sz="1450">
                <a:solidFill>
                  <a:srgbClr val="0C0C0E"/>
                </a:solidFill>
                <a:latin typeface="Arial"/>
              </a:rPr>
              <a:t>weeks</a:t>
            </a:r>
          </a:p>
          <a:p>
            <a:pPr marL="0" indent="0">
              <a:lnSpc>
                <a:spcPts val="2000"/>
              </a:lnSpc>
              <a:spcBef>
                <a:spcPts val="650"/>
              </a:spcBef>
              <a:buNone/>
            </a:pPr>
            <a:r>
              <a:rPr b="1" sz="1450">
                <a:solidFill>
                  <a:srgbClr val="0C0C0E"/>
                </a:solidFill>
                <a:latin typeface="Arial"/>
              </a:rPr>
              <a:t>5. </a:t>
            </a:r>
            <a:r>
              <a:rPr b="0" sz="1450">
                <a:solidFill>
                  <a:srgbClr val="0C0C0E"/>
                </a:solidFill>
                <a:latin typeface="Arial"/>
              </a:rPr>
              <a:t>Doctor </a:t>
            </a:r>
            <a:r>
              <a:rPr b="0" sz="1450">
                <a:solidFill>
                  <a:srgbClr val="0C0C0E"/>
                </a:solidFill>
                <a:latin typeface="Arial"/>
              </a:rPr>
              <a:t>sees </a:t>
            </a:r>
            <a:r>
              <a:rPr b="0" sz="1450">
                <a:solidFill>
                  <a:srgbClr val="0C0C0E"/>
                </a:solidFill>
                <a:latin typeface="Arial"/>
              </a:rPr>
              <a:t>a </a:t>
            </a:r>
            <a:r>
              <a:rPr b="0" sz="1450">
                <a:solidFill>
                  <a:srgbClr val="0C0C0E"/>
                </a:solidFill>
                <a:latin typeface="Arial"/>
              </a:rPr>
              <a:t>one-page </a:t>
            </a:r>
            <a:r>
              <a:rPr b="0" sz="1450">
                <a:solidFill>
                  <a:srgbClr val="0C0C0E"/>
                </a:solidFill>
                <a:latin typeface="Arial"/>
              </a:rPr>
              <a:t>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900"/>
            <a:ext cx="12192000" cy="292100"/>
          </a:xfrm>
          <a:prstGeom prst="rect">
            <a:avLst/>
          </a:prstGeom>
          <a:solidFill>
            <a:srgbClr val="0B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